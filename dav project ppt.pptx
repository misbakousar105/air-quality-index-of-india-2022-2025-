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325" r:id="rId5"/>
    <p:sldId id="326" r:id="rId6"/>
    <p:sldId id="357" r:id="rId7"/>
    <p:sldId id="342" r:id="rId8"/>
    <p:sldId id="341" r:id="rId9"/>
    <p:sldId id="343" r:id="rId10"/>
    <p:sldId id="344" r:id="rId11"/>
    <p:sldId id="345" r:id="rId12"/>
    <p:sldId id="346" r:id="rId13"/>
    <p:sldId id="349" r:id="rId14"/>
    <p:sldId id="264" r:id="rId15"/>
    <p:sldId id="347" r:id="rId16"/>
    <p:sldId id="348" r:id="rId17"/>
    <p:sldId id="355" r:id="rId18"/>
    <p:sldId id="356" r:id="rId19"/>
    <p:sldId id="350" r:id="rId20"/>
    <p:sldId id="351" r:id="rId21"/>
    <p:sldId id="352" r:id="rId22"/>
    <p:sldId id="353" r:id="rId23"/>
    <p:sldId id="354" r:id="rId24"/>
    <p:sldId id="34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6B5AE4E-E611-460E-AC4A-099EA70972ED}">
          <p14:sldIdLst>
            <p14:sldId id="325"/>
            <p14:sldId id="326"/>
            <p14:sldId id="357"/>
            <p14:sldId id="342"/>
            <p14:sldId id="341"/>
            <p14:sldId id="343"/>
            <p14:sldId id="344"/>
            <p14:sldId id="345"/>
            <p14:sldId id="346"/>
            <p14:sldId id="349"/>
            <p14:sldId id="264"/>
            <p14:sldId id="347"/>
            <p14:sldId id="348"/>
            <p14:sldId id="355"/>
            <p14:sldId id="356"/>
            <p14:sldId id="350"/>
            <p14:sldId id="351"/>
            <p14:sldId id="352"/>
            <p14:sldId id="353"/>
            <p14:sldId id="354"/>
            <p14:sldId id="340"/>
          </p14:sldIdLst>
        </p14:section>
      </p14:sectionLst>
    </p:ex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240" autoAdjust="0"/>
  </p:normalViewPr>
  <p:slideViewPr>
    <p:cSldViewPr snapToGrid="0">
      <p:cViewPr varScale="1">
        <p:scale>
          <a:sx n="76" d="100"/>
          <a:sy n="76" d="100"/>
        </p:scale>
        <p:origin x="946" y="62"/>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2816"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1/8/2026</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6609C33-D605-6146-1378-F67C572F05C1}"/>
              </a:ext>
            </a:extLst>
          </p:cNvPr>
          <p:cNvSpPr/>
          <p:nvPr userDrawn="1"/>
        </p:nvSpPr>
        <p:spPr>
          <a:xfrm>
            <a:off x="0" y="0"/>
            <a:ext cx="12192000" cy="6858000"/>
          </a:xfrm>
          <a:custGeom>
            <a:avLst/>
            <a:gdLst>
              <a:gd name="connsiteX0" fmla="*/ 304800 w 12192000"/>
              <a:gd name="connsiteY0" fmla="*/ 266701 h 6858000"/>
              <a:gd name="connsiteX1" fmla="*/ 304800 w 12192000"/>
              <a:gd name="connsiteY1" fmla="*/ 6591300 h 6858000"/>
              <a:gd name="connsiteX2" fmla="*/ 11887200 w 12192000"/>
              <a:gd name="connsiteY2" fmla="*/ 6591300 h 6858000"/>
              <a:gd name="connsiteX3" fmla="*/ 11887200 w 12192000"/>
              <a:gd name="connsiteY3" fmla="*/ 266701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1417320"/>
            <a:ext cx="10515600" cy="4023360"/>
          </a:xfrm>
        </p:spPr>
        <p:txBody>
          <a:bodyPr anchor="ctr"/>
          <a:lstStyle>
            <a:lvl1pPr algn="ctr">
              <a:defRPr sz="5400"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Rectangle 13">
            <a:extLst>
              <a:ext uri="{FF2B5EF4-FFF2-40B4-BE49-F238E27FC236}">
                <a16:creationId xmlns:a16="http://schemas.microsoft.com/office/drawing/2014/main" id="{6DDC5B68-548C-395D-B9A9-EA694F6CB59F}"/>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38F023-8BDF-71DB-D6AB-776F7C6413B2}"/>
              </a:ext>
            </a:extLst>
          </p:cNvPr>
          <p:cNvSpPr/>
          <p:nvPr userDrawn="1"/>
        </p:nvSpPr>
        <p:spPr>
          <a:xfrm>
            <a:off x="8610600" y="0"/>
            <a:ext cx="3581400" cy="6858000"/>
          </a:xfrm>
          <a:custGeom>
            <a:avLst/>
            <a:gdLst>
              <a:gd name="connsiteX0" fmla="*/ 0 w 3581400"/>
              <a:gd name="connsiteY0" fmla="*/ 0 h 6858000"/>
              <a:gd name="connsiteX1" fmla="*/ 3581400 w 3581400"/>
              <a:gd name="connsiteY1" fmla="*/ 0 h 6858000"/>
              <a:gd name="connsiteX2" fmla="*/ 3581400 w 3581400"/>
              <a:gd name="connsiteY2" fmla="*/ 6858000 h 6858000"/>
              <a:gd name="connsiteX3" fmla="*/ 0 w 3581400"/>
              <a:gd name="connsiteY3" fmla="*/ 6858000 h 6858000"/>
              <a:gd name="connsiteX4" fmla="*/ 0 w 3581400"/>
              <a:gd name="connsiteY4" fmla="*/ 6172201 h 6858000"/>
              <a:gd name="connsiteX5" fmla="*/ 2971800 w 3581400"/>
              <a:gd name="connsiteY5" fmla="*/ 6172201 h 6858000"/>
              <a:gd name="connsiteX6" fmla="*/ 2971800 w 3581400"/>
              <a:gd name="connsiteY6" fmla="*/ 685800 h 6858000"/>
              <a:gd name="connsiteX7" fmla="*/ 0 w 3581400"/>
              <a:gd name="connsiteY7" fmla="*/ 685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1400" h="68580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80160" y="1097280"/>
            <a:ext cx="4114800" cy="2286000"/>
          </a:xfrm>
        </p:spPr>
        <p:txBody>
          <a:bodyPr/>
          <a:lstStyle>
            <a:lvl1pPr>
              <a:defRPr sz="3200"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80160" y="3566160"/>
            <a:ext cx="4114800" cy="2651760"/>
          </a:xfrm>
        </p:spPr>
        <p:txBody>
          <a:bodyPr>
            <a:normAutofit/>
          </a:bodyPr>
          <a:lstStyle>
            <a:lvl1pPr marL="457200" indent="-457200">
              <a:lnSpc>
                <a:spcPct val="100000"/>
              </a:lnSpc>
              <a:spcBef>
                <a:spcPts val="1400"/>
              </a:spcBef>
              <a:buClr>
                <a:schemeClr val="accent1"/>
              </a:buClr>
              <a:buFont typeface="Courier New" panose="02070309020205020404" pitchFamily="49" charset="0"/>
              <a:buChar char="o"/>
              <a:defRPr sz="2400" cap="all" spc="0" baseline="0"/>
            </a:lvl1pPr>
            <a:lvl2pPr marL="914400">
              <a:defRPr spc="0" baseline="0"/>
            </a:lvl2pPr>
            <a:lvl3pPr marL="1371600">
              <a:defRPr spc="0" baseline="0"/>
            </a:lvl3pPr>
            <a:lvl4pPr marL="1828800">
              <a:defRPr spc="0" baseline="0"/>
            </a:lvl4pPr>
            <a:lvl5pPr marL="2286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5687568" y="1435608"/>
            <a:ext cx="5897880" cy="3977640"/>
          </a:xfrm>
          <a:noFill/>
        </p:spPr>
        <p:txBody>
          <a:bodyPr anchor="ctr"/>
          <a:lstStyle>
            <a:lvl1pPr marL="0" indent="0" algn="ctr">
              <a:buNone/>
              <a:defRPr/>
            </a:lvl1pPr>
          </a:lstStyle>
          <a:p>
            <a:r>
              <a:rPr lang="en-US"/>
              <a:t>Click icon to add picture</a:t>
            </a:r>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13" name="Straight Connector 12">
            <a:extLst>
              <a:ext uri="{FF2B5EF4-FFF2-40B4-BE49-F238E27FC236}">
                <a16:creationId xmlns:a16="http://schemas.microsoft.com/office/drawing/2014/main" id="{323EB7E3-3953-BAB4-1B15-383082C6C31E}"/>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841248" y="2697480"/>
            <a:ext cx="10515600" cy="2606040"/>
          </a:xfrm>
        </p:spPr>
        <p:txBody>
          <a:bodyPr anchor="ctr">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841248" y="6044184"/>
            <a:ext cx="10515600" cy="457200"/>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0" y="0"/>
            <a:ext cx="12188952" cy="2368296"/>
          </a:xfrm>
        </p:spPr>
        <p:txBody>
          <a:bodyPr/>
          <a:lstStyle>
            <a:lvl1pPr marL="0" indent="0">
              <a:buNone/>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103AD4F0-8C4C-FC68-2450-06419A6D0131}"/>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2159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510974D-B222-2876-052D-21F0E075D288}"/>
              </a:ext>
            </a:extLst>
          </p:cNvPr>
          <p:cNvSpPr/>
          <p:nvPr userDrawn="1"/>
        </p:nvSpPr>
        <p:spPr>
          <a:xfrm>
            <a:off x="0" y="0"/>
            <a:ext cx="12192000" cy="4457700"/>
          </a:xfrm>
          <a:custGeom>
            <a:avLst/>
            <a:gdLst>
              <a:gd name="connsiteX0" fmla="*/ 0 w 12192000"/>
              <a:gd name="connsiteY0" fmla="*/ 0 h 4457700"/>
              <a:gd name="connsiteX1" fmla="*/ 12192000 w 12192000"/>
              <a:gd name="connsiteY1" fmla="*/ 0 h 4457700"/>
              <a:gd name="connsiteX2" fmla="*/ 12192000 w 12192000"/>
              <a:gd name="connsiteY2" fmla="*/ 4457700 h 4457700"/>
              <a:gd name="connsiteX3" fmla="*/ 11563350 w 12192000"/>
              <a:gd name="connsiteY3" fmla="*/ 4457700 h 4457700"/>
              <a:gd name="connsiteX4" fmla="*/ 11563350 w 12192000"/>
              <a:gd name="connsiteY4" fmla="*/ 685800 h 4457700"/>
              <a:gd name="connsiteX5" fmla="*/ 628650 w 12192000"/>
              <a:gd name="connsiteY5" fmla="*/ 685800 h 4457700"/>
              <a:gd name="connsiteX6" fmla="*/ 628650 w 12192000"/>
              <a:gd name="connsiteY6" fmla="*/ 4457700 h 4457700"/>
              <a:gd name="connsiteX7" fmla="*/ 0 w 12192000"/>
              <a:gd name="connsiteY7" fmla="*/ 4457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577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78408" y="1143000"/>
            <a:ext cx="10241280" cy="22860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2075688" y="3803904"/>
            <a:ext cx="8046720" cy="914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Rectangle 15">
            <a:extLst>
              <a:ext uri="{FF2B5EF4-FFF2-40B4-BE49-F238E27FC236}">
                <a16:creationId xmlns:a16="http://schemas.microsoft.com/office/drawing/2014/main" id="{8A1A471A-8A28-B00F-72E9-849D5E6B7257}"/>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528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BB82FF-5339-5456-4D30-0C2DA7907AAE}"/>
              </a:ext>
            </a:extLst>
          </p:cNvPr>
          <p:cNvSpPr/>
          <p:nvPr userDrawn="1"/>
        </p:nvSpPr>
        <p:spPr>
          <a:xfrm>
            <a:off x="0" y="0"/>
            <a:ext cx="356616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340096" y="1097280"/>
            <a:ext cx="6217920" cy="1828800"/>
          </a:xfrm>
        </p:spPr>
        <p:txBody>
          <a:bodyPr/>
          <a:lstStyle>
            <a:lvl1pPr>
              <a:defRPr sz="3200" spc="3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2C39A257-2366-FF6B-67AD-9342B6B0B682}"/>
              </a:ext>
            </a:extLst>
          </p:cNvPr>
          <p:cNvSpPr>
            <a:spLocks noGrp="1"/>
          </p:cNvSpPr>
          <p:nvPr>
            <p:ph type="pic" sz="quarter" idx="13"/>
          </p:nvPr>
        </p:nvSpPr>
        <p:spPr>
          <a:xfrm>
            <a:off x="1298448" y="1828800"/>
            <a:ext cx="3200400" cy="320040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340096" y="3429000"/>
            <a:ext cx="6217920" cy="2743200"/>
          </a:xfrm>
        </p:spPr>
        <p:txBody>
          <a:bodyPr>
            <a:normAutofit/>
          </a:bodyPr>
          <a:lstStyle>
            <a:lvl1pPr marL="457200">
              <a:spcBef>
                <a:spcPts val="1400"/>
              </a:spcBef>
              <a:buSzPct val="80000"/>
              <a:defRPr cap="all" spc="0" baseline="0"/>
            </a:lvl1pPr>
            <a:lvl2pPr marL="914400">
              <a:buSzPct val="80000"/>
              <a:defRPr spc="0" baseline="0"/>
            </a:lvl2pPr>
            <a:lvl3pPr marL="1371600">
              <a:buSzPct val="80000"/>
              <a:defRPr spc="0" baseline="0"/>
            </a:lvl3pPr>
            <a:lvl4pPr marL="1828800">
              <a:buSzPct val="80000"/>
              <a:defRPr spc="0" baseline="0"/>
            </a:lvl4pPr>
            <a:lvl5pPr marL="2286000">
              <a:buSzPct val="80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5" name="Straight Connector 4">
            <a:extLst>
              <a:ext uri="{FF2B5EF4-FFF2-40B4-BE49-F238E27FC236}">
                <a16:creationId xmlns:a16="http://schemas.microsoft.com/office/drawing/2014/main" id="{ADA4A755-28B6-5A01-94AB-C3CCC4368885}"/>
              </a:ext>
            </a:extLst>
          </p:cNvPr>
          <p:cNvCxnSpPr>
            <a:cxnSpLocks/>
          </p:cNvCxnSpPr>
          <p:nvPr userDrawn="1"/>
        </p:nvCxnSpPr>
        <p:spPr>
          <a:xfrm>
            <a:off x="5340096"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1524000" y="1481328"/>
            <a:ext cx="9144000" cy="3895344"/>
          </a:xfrm>
          <a:solidFill>
            <a:schemeClr val="bg1"/>
          </a:solidFill>
        </p:spPr>
        <p:txBody>
          <a:bodyPr/>
          <a:lstStyle>
            <a:lvl1pPr marL="0" indent="0">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076C4EAC-BBDE-1963-BD72-3BD2A47DC59C}"/>
              </a:ext>
            </a:extLst>
          </p:cNvPr>
          <p:cNvSpPr>
            <a:spLocks noGrp="1"/>
          </p:cNvSpPr>
          <p:nvPr>
            <p:ph type="ctrTitle"/>
          </p:nvPr>
        </p:nvSpPr>
        <p:spPr>
          <a:xfrm>
            <a:off x="1984248" y="1920240"/>
            <a:ext cx="8229600" cy="3017520"/>
          </a:xfrm>
        </p:spPr>
        <p:txBody>
          <a:bodyPr anchor="ct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41548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BCF04C-49F6-66E8-41A0-B3C371944EA1}"/>
              </a:ext>
            </a:extLst>
          </p:cNvPr>
          <p:cNvSpPr/>
          <p:nvPr userDrawn="1"/>
        </p:nvSpPr>
        <p:spPr>
          <a:xfrm>
            <a:off x="6705600" y="0"/>
            <a:ext cx="54864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3931920"/>
            <a:ext cx="5029200" cy="1828800"/>
          </a:xfrm>
        </p:spPr>
        <p:txBody>
          <a:bodyPr anchor="b" anchorCtr="0"/>
          <a:lstStyle>
            <a:lvl1pPr>
              <a:defRPr sz="32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DDE351D0-FB9C-3473-AF28-52927741728E}"/>
              </a:ext>
            </a:extLst>
          </p:cNvPr>
          <p:cNvSpPr>
            <a:spLocks noGrp="1"/>
          </p:cNvSpPr>
          <p:nvPr>
            <p:ph type="pic" sz="quarter" idx="14"/>
          </p:nvPr>
        </p:nvSpPr>
        <p:spPr>
          <a:xfrm>
            <a:off x="1280160" y="548640"/>
            <a:ext cx="3017520" cy="301752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205472" y="731520"/>
            <a:ext cx="4306824" cy="5394960"/>
          </a:xfrm>
        </p:spPr>
        <p:txBody>
          <a:bodyPr anchor="b">
            <a:normAutofit/>
          </a:bodyPr>
          <a:lstStyle>
            <a:lvl1pPr marL="457200">
              <a:spcBef>
                <a:spcPts val="1400"/>
              </a:spcBef>
              <a:buClr>
                <a:schemeClr val="tx1"/>
              </a:buClr>
              <a:buSzPct val="80000"/>
              <a:defRPr cap="all" baseline="0"/>
            </a:lvl1pPr>
            <a:lvl2pPr marL="914400">
              <a:buClr>
                <a:schemeClr val="tx1"/>
              </a:buClr>
              <a:buSzPct val="80000"/>
              <a:defRPr/>
            </a:lvl2pPr>
            <a:lvl3pPr marL="1371600">
              <a:buClr>
                <a:schemeClr val="tx1"/>
              </a:buClr>
              <a:buSzPct val="80000"/>
              <a:defRPr/>
            </a:lvl3pPr>
            <a:lvl4pPr marL="1828800">
              <a:buClr>
                <a:schemeClr val="tx1"/>
              </a:buClr>
              <a:buSzPct val="80000"/>
              <a:defRPr/>
            </a:lvl4pPr>
            <a:lvl5pPr marL="2286000">
              <a:buClr>
                <a:schemeClr val="tx1"/>
              </a:buClr>
              <a:buSzPct val="8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10" name="Straight Connector 9">
            <a:extLst>
              <a:ext uri="{FF2B5EF4-FFF2-40B4-BE49-F238E27FC236}">
                <a16:creationId xmlns:a16="http://schemas.microsoft.com/office/drawing/2014/main" id="{C1171EC5-29BE-C106-1E9B-0CBDB598A131}"/>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21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108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5029200" cy="18288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6784848" y="1097280"/>
            <a:ext cx="4572000" cy="182880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1280160" y="3172968"/>
            <a:ext cx="10076688" cy="310896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77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9820656" cy="9144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1280160" y="2377440"/>
            <a:ext cx="4572000" cy="3429000"/>
          </a:xfrm>
          <a:noFill/>
        </p:spPr>
        <p:txBody>
          <a:bodyPr lIns="0" tIns="0" rIns="0" bIns="0">
            <a:normAutofit/>
          </a:bodyPr>
          <a:lstStyle>
            <a:lvl1pPr marL="228600" indent="-228600">
              <a:lnSpc>
                <a:spcPct val="90000"/>
              </a:lnSpc>
              <a:spcBef>
                <a:spcPts val="1400"/>
              </a:spcBef>
              <a:buSzPct val="80000"/>
              <a:defRPr sz="1800" b="1"/>
            </a:lvl1pPr>
            <a:lvl2pPr marL="457200" indent="0">
              <a:lnSpc>
                <a:spcPct val="90000"/>
              </a:lnSpc>
              <a:spcBef>
                <a:spcPts val="1400"/>
              </a:spcBef>
              <a:buSzPct val="80000"/>
              <a:buNone/>
              <a:defRPr sz="1800"/>
            </a:lvl2pPr>
            <a:lvl3pPr marL="914400">
              <a:lnSpc>
                <a:spcPct val="90000"/>
              </a:lnSpc>
              <a:spcBef>
                <a:spcPts val="1400"/>
              </a:spcBef>
              <a:buSzPct val="80000"/>
              <a:defRPr sz="1800"/>
            </a:lvl3pPr>
            <a:lvl4pPr marL="914400" indent="0">
              <a:lnSpc>
                <a:spcPct val="90000"/>
              </a:lnSpc>
              <a:spcBef>
                <a:spcPts val="1400"/>
              </a:spcBef>
              <a:buSzPct val="80000"/>
              <a:buNone/>
              <a:defRPr sz="1800"/>
            </a:lvl4pPr>
            <a:lvl5pPr marL="1371600">
              <a:lnSpc>
                <a:spcPct val="90000"/>
              </a:lnSpc>
              <a:spcBef>
                <a:spcPts val="1400"/>
              </a:spcBef>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6227064" y="2377440"/>
            <a:ext cx="4645152" cy="3429000"/>
          </a:xfrm>
          <a:noFill/>
        </p:spPr>
        <p:txBody>
          <a:bodyPr lIns="0" tIns="0" rIns="0" bIns="0">
            <a:normAutofit/>
          </a:bodyPr>
          <a:lstStyle>
            <a:lvl1pPr marL="457200">
              <a:spcBef>
                <a:spcPts val="1400"/>
              </a:spcBef>
              <a:buSzPct val="80000"/>
              <a:defRPr sz="1800"/>
            </a:lvl1pPr>
            <a:lvl2pPr marL="914400">
              <a:buSzPct val="80000"/>
              <a:defRPr sz="1800"/>
            </a:lvl2pPr>
            <a:lvl3pPr marL="1371600">
              <a:buSzPct val="80000"/>
              <a:defRPr sz="1800"/>
            </a:lvl3pPr>
            <a:lvl4pPr marL="1828800">
              <a:buSzPct val="80000"/>
              <a:defRPr sz="1800"/>
            </a:lvl4pPr>
            <a:lvl5pPr marL="2286000">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424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Title 1">
            <a:extLst>
              <a:ext uri="{FF2B5EF4-FFF2-40B4-BE49-F238E27FC236}">
                <a16:creationId xmlns:a16="http://schemas.microsoft.com/office/drawing/2014/main" id="{A659BA83-0C6E-2A70-AED3-E386CABE654A}"/>
              </a:ext>
            </a:extLst>
          </p:cNvPr>
          <p:cNvSpPr>
            <a:spLocks noGrp="1"/>
          </p:cNvSpPr>
          <p:nvPr>
            <p:ph type="title"/>
          </p:nvPr>
        </p:nvSpPr>
        <p:spPr>
          <a:xfrm>
            <a:off x="1280160" y="1097280"/>
            <a:ext cx="9601200" cy="914400"/>
          </a:xfrm>
        </p:spPr>
        <p:txBody>
          <a:bodyPr anchor="t" anchorCtr="0"/>
          <a:lstStyle>
            <a:lvl1pPr>
              <a:defRPr sz="3200"/>
            </a:lvl1pPr>
          </a:lstStyle>
          <a:p>
            <a:r>
              <a:rPr lang="en-US"/>
              <a:t>Click to edit Master title style</a:t>
            </a:r>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1280160" y="2377440"/>
            <a:ext cx="9619488" cy="3429000"/>
          </a:xfrm>
        </p:spPr>
        <p:txBody>
          <a:bodyPr/>
          <a:lstStyle>
            <a:lvl1pPr marL="0" indent="0">
              <a:buNone/>
              <a:defRPr/>
            </a:lvl1pPr>
          </a:lstStyle>
          <a:p>
            <a:r>
              <a:rPr lang="en-US"/>
              <a:t>Click icon to add table</a:t>
            </a:r>
            <a:endParaRPr lang="en-US" dirty="0"/>
          </a:p>
        </p:txBody>
      </p:sp>
      <p:cxnSp>
        <p:nvCxnSpPr>
          <p:cNvPr id="7" name="Straight Connector 6">
            <a:extLst>
              <a:ext uri="{FF2B5EF4-FFF2-40B4-BE49-F238E27FC236}">
                <a16:creationId xmlns:a16="http://schemas.microsoft.com/office/drawing/2014/main" id="{5D612406-06E6-DCE4-7F2F-D98836A802A6}"/>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889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cap="all" baseline="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39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841248" y="3163824"/>
            <a:ext cx="10515600" cy="2322576"/>
          </a:xfrm>
          <a:prstGeom prst="rect">
            <a:avLst/>
          </a:prstGeom>
          <a:noFill/>
        </p:spPr>
        <p:txBody>
          <a:bodyPr wrap="square" bIns="0" anchor="ctr">
            <a:noAutofit/>
          </a:bodyPr>
          <a:lstStyle>
            <a:lvl1pPr algn="ct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548640"/>
            <a:ext cx="2286000" cy="2286000"/>
          </a:xfrm>
          <a:prstGeom prst="ellipse">
            <a:avLst/>
          </a:prstGeom>
        </p:spPr>
        <p:txBody>
          <a:bodyPr anchor="t"/>
          <a:lstStyle>
            <a:lvl1pPr marL="0" indent="0" algn="ctr">
              <a:buNone/>
              <a:defRPr sz="1050">
                <a:solidFill>
                  <a:schemeClr val="tx1"/>
                </a:solidFill>
              </a:defRPr>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6044184"/>
            <a:ext cx="9116568" cy="365760"/>
          </a:xfrm>
        </p:spPr>
        <p:txBody>
          <a:bodyPr anchor="t"/>
          <a:lstStyle>
            <a:lvl1pPr marL="0" indent="0" algn="ctr">
              <a:lnSpc>
                <a:spcPct val="90000"/>
              </a:lnSpc>
              <a:spcBef>
                <a:spcPts val="0"/>
              </a:spcBef>
              <a:buNone/>
              <a:defRPr sz="2400" cap="all" baseline="0"/>
            </a:lvl1pPr>
          </a:lstStyle>
          <a:p>
            <a:pPr lvl="0"/>
            <a:r>
              <a:rPr lang="en-US"/>
              <a:t>Click to edit Master text styles</a:t>
            </a:r>
          </a:p>
        </p:txBody>
      </p:sp>
      <p:sp>
        <p:nvSpPr>
          <p:cNvPr id="3" name="Rectangle 2">
            <a:extLst>
              <a:ext uri="{FF2B5EF4-FFF2-40B4-BE49-F238E27FC236}">
                <a16:creationId xmlns:a16="http://schemas.microsoft.com/office/drawing/2014/main" id="{7ECE7D81-1954-1B1F-C0AC-21C85AFD3C1E}"/>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74" r:id="rId3"/>
    <p:sldLayoutId id="2147483675" r:id="rId4"/>
    <p:sldLayoutId id="2147483664" r:id="rId5"/>
    <p:sldLayoutId id="2147483676" r:id="rId6"/>
    <p:sldLayoutId id="2147483677" r:id="rId7"/>
    <p:sldLayoutId id="2147483681" r:id="rId8"/>
    <p:sldLayoutId id="2147483682" r:id="rId9"/>
    <p:sldLayoutId id="2147483683" r:id="rId10"/>
    <p:sldLayoutId id="2147483680" r:id="rId11"/>
    <p:sldLayoutId id="2147483684" r:id="rId12"/>
    <p:sldLayoutId id="2147483673" r:id="rId13"/>
  </p:sldLayoutIdLst>
  <p:hf sldNum="0" hdr="0" ft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457200" algn="l" defTabSz="914400" rtl="0" eaLnBrk="1" latinLnBrk="0" hangingPunct="1">
        <a:lnSpc>
          <a:spcPct val="100000"/>
        </a:lnSpc>
        <a:spcBef>
          <a:spcPts val="1000"/>
        </a:spcBef>
        <a:buClr>
          <a:schemeClr val="accent1"/>
        </a:buClr>
        <a:buFont typeface="Courier New" panose="02070309020205020404" pitchFamily="49" charset="0"/>
        <a:buChar char="o"/>
        <a:defRPr sz="2400" b="0" i="0" kern="1200" cap="none" baseline="0">
          <a:solidFill>
            <a:schemeClr val="tx1"/>
          </a:solidFill>
          <a:latin typeface="+mn-lt"/>
          <a:ea typeface="+mn-ea"/>
          <a:cs typeface="+mn-cs"/>
        </a:defRPr>
      </a:lvl1pPr>
      <a:lvl2pPr marL="6858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baseline="0">
          <a:solidFill>
            <a:schemeClr val="tx1"/>
          </a:solidFill>
          <a:latin typeface="+mn-lt"/>
          <a:ea typeface="+mn-ea"/>
          <a:cs typeface="+mn-cs"/>
        </a:defRPr>
      </a:lvl2pPr>
      <a:lvl3pPr marL="1143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baseline="0">
          <a:solidFill>
            <a:schemeClr val="tx1"/>
          </a:solidFill>
          <a:latin typeface="+mn-lt"/>
          <a:ea typeface="+mn-ea"/>
          <a:cs typeface="+mn-cs"/>
        </a:defRPr>
      </a:lvl3pPr>
      <a:lvl4pPr marL="16002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baseline="0">
          <a:solidFill>
            <a:schemeClr val="tx1"/>
          </a:solidFill>
          <a:latin typeface="+mn-lt"/>
          <a:ea typeface="+mn-ea"/>
          <a:cs typeface="+mn-cs"/>
        </a:defRPr>
      </a:lvl4pPr>
      <a:lvl5pPr marL="20574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5E10E9-9AB7-0642-D4C4-DDFDAB7B5B2C}"/>
              </a:ext>
            </a:extLst>
          </p:cNvPr>
          <p:cNvSpPr>
            <a:spLocks noGrp="1"/>
          </p:cNvSpPr>
          <p:nvPr>
            <p:ph type="title"/>
          </p:nvPr>
        </p:nvSpPr>
        <p:spPr>
          <a:xfrm>
            <a:off x="838200" y="930376"/>
            <a:ext cx="10515600" cy="843559"/>
          </a:xfrm>
        </p:spPr>
        <p:txBody>
          <a:bodyPr/>
          <a:lstStyle/>
          <a:p>
            <a:r>
              <a:rPr lang="en-US" sz="4800" dirty="0"/>
              <a:t>AIR QUALITY INDEX OF INDIA</a:t>
            </a:r>
          </a:p>
        </p:txBody>
      </p:sp>
      <p:sp>
        <p:nvSpPr>
          <p:cNvPr id="5" name="Subtitle 4">
            <a:extLst>
              <a:ext uri="{FF2B5EF4-FFF2-40B4-BE49-F238E27FC236}">
                <a16:creationId xmlns:a16="http://schemas.microsoft.com/office/drawing/2014/main" id="{72A45EA9-F373-8D9F-DC13-4FAD215B62DD}"/>
              </a:ext>
            </a:extLst>
          </p:cNvPr>
          <p:cNvSpPr>
            <a:spLocks noGrp="1"/>
          </p:cNvSpPr>
          <p:nvPr>
            <p:ph type="subTitle" idx="1"/>
          </p:nvPr>
        </p:nvSpPr>
        <p:spPr>
          <a:xfrm>
            <a:off x="1925933" y="2752847"/>
            <a:ext cx="9144000" cy="1352307"/>
          </a:xfrm>
        </p:spPr>
        <p:txBody>
          <a:bodyPr/>
          <a:lstStyle/>
          <a:p>
            <a:r>
              <a:rPr lang="en-IN" b="1" dirty="0">
                <a:latin typeface="Times New Roman" panose="02020603050405020304" pitchFamily="18" charset="0"/>
                <a:cs typeface="Times New Roman" panose="02020603050405020304" pitchFamily="18" charset="0"/>
              </a:rPr>
              <a:t>DATA ANALYSIS AND VISUALIZATION Project on:</a:t>
            </a:r>
          </a:p>
          <a:p>
            <a:r>
              <a:rPr lang="en-US" b="1" dirty="0">
                <a:latin typeface="Times New Roman" panose="02020603050405020304" pitchFamily="18" charset="0"/>
                <a:cs typeface="Times New Roman" panose="02020603050405020304" pitchFamily="18" charset="0"/>
              </a:rPr>
              <a:t>“Comprehensive Analysis of Air Quality in India on PM2.5 and AQI Patterns”</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14D565B-29F2-5A06-8BF9-192DAC00C3F4}"/>
              </a:ext>
            </a:extLst>
          </p:cNvPr>
          <p:cNvSpPr txBox="1"/>
          <p:nvPr/>
        </p:nvSpPr>
        <p:spPr>
          <a:xfrm>
            <a:off x="8551147" y="5084065"/>
            <a:ext cx="3004457"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Presented by: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Misba </a:t>
            </a:r>
            <a:r>
              <a:rPr kumimoji="0" lang="en-IN" sz="1800" b="1"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Kousar</a:t>
            </a:r>
            <a:endParaRPr kumimoji="0" lang="en-I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Batch no:PGDDM51</a:t>
            </a:r>
          </a:p>
          <a:p>
            <a:endParaRPr lang="en-IN" dirty="0"/>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a:xfrm>
            <a:off x="1280160" y="1097280"/>
            <a:ext cx="4114800" cy="530553"/>
          </a:xfrm>
        </p:spPr>
        <p:txBody>
          <a:bodyPr/>
          <a:lstStyle/>
          <a:p>
            <a:r>
              <a:rPr lang="en-US" dirty="0"/>
              <a:t>agenda</a:t>
            </a:r>
          </a:p>
        </p:txBody>
      </p:sp>
      <p:sp>
        <p:nvSpPr>
          <p:cNvPr id="3" name="Content Placeholder 2">
            <a:extLst>
              <a:ext uri="{FF2B5EF4-FFF2-40B4-BE49-F238E27FC236}">
                <a16:creationId xmlns:a16="http://schemas.microsoft.com/office/drawing/2014/main" id="{4D038CD2-9585-7E51-5359-D52935A77DF0}"/>
              </a:ext>
            </a:extLst>
          </p:cNvPr>
          <p:cNvSpPr>
            <a:spLocks noGrp="1"/>
          </p:cNvSpPr>
          <p:nvPr>
            <p:ph idx="1"/>
          </p:nvPr>
        </p:nvSpPr>
        <p:spPr>
          <a:xfrm>
            <a:off x="1189725" y="1777552"/>
            <a:ext cx="4114800" cy="4784021"/>
          </a:xfrm>
        </p:spPr>
        <p:txBody>
          <a:bodyPr vert="horz" lIns="0" tIns="0" rIns="0" bIns="0" rtlCol="0" anchor="t">
            <a:noAutofit/>
          </a:bodyPr>
          <a:lstStyle/>
          <a:p>
            <a:r>
              <a:rPr lang="en-US" cap="none" dirty="0">
                <a:latin typeface="Times New Roman" panose="02020603050405020304" pitchFamily="18" charset="0"/>
                <a:cs typeface="Times New Roman" panose="02020603050405020304" pitchFamily="18" charset="0"/>
              </a:rPr>
              <a:t>Objective</a:t>
            </a:r>
          </a:p>
          <a:p>
            <a:r>
              <a:rPr lang="en-US" cap="none" dirty="0">
                <a:latin typeface="Times New Roman" panose="02020603050405020304" pitchFamily="18" charset="0"/>
                <a:cs typeface="Times New Roman" panose="02020603050405020304" pitchFamily="18" charset="0"/>
              </a:rPr>
              <a:t>Dataset overview</a:t>
            </a:r>
          </a:p>
          <a:p>
            <a:r>
              <a:rPr lang="en-US" cap="none" dirty="0">
                <a:latin typeface="Times New Roman" panose="02020603050405020304" pitchFamily="18" charset="0"/>
                <a:cs typeface="Times New Roman" panose="02020603050405020304" pitchFamily="18" charset="0"/>
              </a:rPr>
              <a:t>Libraries used</a:t>
            </a:r>
          </a:p>
          <a:p>
            <a:r>
              <a:rPr lang="en-US" cap="none" dirty="0">
                <a:latin typeface="Times New Roman" panose="02020603050405020304" pitchFamily="18" charset="0"/>
                <a:cs typeface="Times New Roman" panose="02020603050405020304" pitchFamily="18" charset="0"/>
              </a:rPr>
              <a:t>Data cleaning and preprocessing</a:t>
            </a:r>
          </a:p>
          <a:p>
            <a:r>
              <a:rPr lang="en-US" cap="none" dirty="0">
                <a:latin typeface="Times New Roman" panose="02020603050405020304" pitchFamily="18" charset="0"/>
                <a:cs typeface="Times New Roman" panose="02020603050405020304" pitchFamily="18" charset="0"/>
              </a:rPr>
              <a:t>Insights from the project</a:t>
            </a:r>
          </a:p>
          <a:p>
            <a:r>
              <a:rPr lang="en-US" cap="none" dirty="0">
                <a:latin typeface="Times New Roman" panose="02020603050405020304" pitchFamily="18" charset="0"/>
                <a:cs typeface="Times New Roman" panose="02020603050405020304" pitchFamily="18" charset="0"/>
              </a:rPr>
              <a:t>Future scope</a:t>
            </a:r>
          </a:p>
          <a:p>
            <a:r>
              <a:rPr lang="en-US" cap="none" dirty="0">
                <a:latin typeface="Times New Roman" panose="02020603050405020304" pitchFamily="18" charset="0"/>
                <a:cs typeface="Times New Roman" panose="02020603050405020304" pitchFamily="18" charset="0"/>
              </a:rPr>
              <a:t>Conclusion</a:t>
            </a:r>
          </a:p>
          <a:p>
            <a:endParaRPr lang="en-US" dirty="0"/>
          </a:p>
        </p:txBody>
      </p:sp>
      <p:sp>
        <p:nvSpPr>
          <p:cNvPr id="5" name="Picture Placeholder 4">
            <a:extLst>
              <a:ext uri="{FF2B5EF4-FFF2-40B4-BE49-F238E27FC236}">
                <a16:creationId xmlns:a16="http://schemas.microsoft.com/office/drawing/2014/main" id="{7E13B036-67BB-584D-3BAE-1D3813FE1C35}"/>
              </a:ext>
            </a:extLst>
          </p:cNvPr>
          <p:cNvSpPr>
            <a:spLocks noGrp="1"/>
          </p:cNvSpPr>
          <p:nvPr>
            <p:ph type="pic" sz="quarter" idx="13"/>
          </p:nvPr>
        </p:nvSpPr>
        <p:spPr/>
      </p:sp>
      <p:pic>
        <p:nvPicPr>
          <p:cNvPr id="7" name="Picture 6">
            <a:extLst>
              <a:ext uri="{FF2B5EF4-FFF2-40B4-BE49-F238E27FC236}">
                <a16:creationId xmlns:a16="http://schemas.microsoft.com/office/drawing/2014/main" id="{71BB8018-6830-540B-31EC-C6EF31596883}"/>
              </a:ext>
            </a:extLst>
          </p:cNvPr>
          <p:cNvPicPr>
            <a:picLocks noChangeAspect="1"/>
          </p:cNvPicPr>
          <p:nvPr/>
        </p:nvPicPr>
        <p:blipFill>
          <a:blip r:embed="rId2"/>
          <a:stretch>
            <a:fillRect/>
          </a:stretch>
        </p:blipFill>
        <p:spPr>
          <a:xfrm>
            <a:off x="5687567" y="1"/>
            <a:ext cx="6504433" cy="6858000"/>
          </a:xfrm>
          <a:prstGeom prst="rect">
            <a:avLst/>
          </a:prstGeom>
        </p:spPr>
      </p:pic>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7CB90-9D0D-7158-528E-F57B27D87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9C9E8-E307-FE5C-26A9-B7FDDF4EEE60}"/>
              </a:ext>
            </a:extLst>
          </p:cNvPr>
          <p:cNvSpPr>
            <a:spLocks noGrp="1"/>
          </p:cNvSpPr>
          <p:nvPr>
            <p:ph type="title"/>
          </p:nvPr>
        </p:nvSpPr>
        <p:spPr>
          <a:xfrm>
            <a:off x="1280159" y="1273744"/>
            <a:ext cx="9484093" cy="843815"/>
          </a:xfrm>
        </p:spPr>
        <p:txBody>
          <a:bodyPr/>
          <a:lstStyle/>
          <a:p>
            <a:r>
              <a:rPr lang="en-IN" dirty="0"/>
              <a:t>OBJECTIVE</a:t>
            </a:r>
          </a:p>
        </p:txBody>
      </p:sp>
      <p:sp>
        <p:nvSpPr>
          <p:cNvPr id="3" name="Content Placeholder 2">
            <a:extLst>
              <a:ext uri="{FF2B5EF4-FFF2-40B4-BE49-F238E27FC236}">
                <a16:creationId xmlns:a16="http://schemas.microsoft.com/office/drawing/2014/main" id="{FA6D6483-109C-B7D4-B821-83F70DCCC3BB}"/>
              </a:ext>
            </a:extLst>
          </p:cNvPr>
          <p:cNvSpPr>
            <a:spLocks noGrp="1"/>
          </p:cNvSpPr>
          <p:nvPr>
            <p:ph idx="1"/>
          </p:nvPr>
        </p:nvSpPr>
        <p:spPr>
          <a:xfrm>
            <a:off x="1280159" y="2210637"/>
            <a:ext cx="9752931" cy="3114989"/>
          </a:xfrm>
        </p:spPr>
        <p:txBody>
          <a:bodyPr>
            <a:normAutofit/>
          </a:bodyPr>
          <a:lstStyle/>
          <a:p>
            <a:pPr marL="0" indent="0">
              <a:buNone/>
            </a:pPr>
            <a:r>
              <a:rPr lang="en-US" sz="3200" cap="none" dirty="0">
                <a:latin typeface="Times New Roman" panose="02020603050405020304" pitchFamily="18" charset="0"/>
                <a:cs typeface="Times New Roman" panose="02020603050405020304" pitchFamily="18" charset="0"/>
              </a:rPr>
              <a:t>The objective of this project is to conduct a comprehensive analysis of air quality in India by studying PM2.5 concentration trends, their relationship with AQI, city-wise pollution patterns, and the influence of meteorological factors, in order to assess air quality severity and support informed environmental decision-making.</a:t>
            </a:r>
            <a:endParaRPr lang="en-IN" sz="32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380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DC876-2CDE-42CF-B250-384E77FDAE43}"/>
              </a:ext>
            </a:extLst>
          </p:cNvPr>
          <p:cNvSpPr>
            <a:spLocks noGrp="1"/>
          </p:cNvSpPr>
          <p:nvPr>
            <p:ph type="title"/>
          </p:nvPr>
        </p:nvSpPr>
        <p:spPr/>
        <p:txBody>
          <a:bodyPr/>
          <a:lstStyle/>
          <a:p>
            <a:r>
              <a:rPr lang="en-IN" dirty="0"/>
              <a:t>DATASET OVERVIEW</a:t>
            </a:r>
          </a:p>
        </p:txBody>
      </p:sp>
      <p:sp>
        <p:nvSpPr>
          <p:cNvPr id="4" name="Content Placeholder 3">
            <a:extLst>
              <a:ext uri="{FF2B5EF4-FFF2-40B4-BE49-F238E27FC236}">
                <a16:creationId xmlns:a16="http://schemas.microsoft.com/office/drawing/2014/main" id="{97AC7A4D-A817-F19A-EA0F-D2D146E27AD6}"/>
              </a:ext>
            </a:extLst>
          </p:cNvPr>
          <p:cNvSpPr>
            <a:spLocks noGrp="1"/>
          </p:cNvSpPr>
          <p:nvPr>
            <p:ph idx="1"/>
          </p:nvPr>
        </p:nvSpPr>
        <p:spPr>
          <a:xfrm>
            <a:off x="5340096" y="2110154"/>
            <a:ext cx="6217920" cy="4062046"/>
          </a:xfrm>
        </p:spPr>
        <p:txBody>
          <a:bodyPr>
            <a:normAutofit/>
          </a:bodyPr>
          <a:lstStyle/>
          <a:p>
            <a:pPr marL="0" indent="0">
              <a:buNone/>
            </a:pPr>
            <a:r>
              <a:rPr lang="en-US" b="1" cap="none" dirty="0">
                <a:latin typeface="Times New Roman" panose="02020603050405020304" pitchFamily="18" charset="0"/>
                <a:cs typeface="Times New Roman" panose="02020603050405020304" pitchFamily="18" charset="0"/>
              </a:rPr>
              <a:t>Identification &amp; Time Columns</a:t>
            </a:r>
          </a:p>
          <a:p>
            <a:r>
              <a:rPr lang="en-US" sz="2000" b="1" cap="none" dirty="0">
                <a:latin typeface="Times New Roman" panose="02020603050405020304" pitchFamily="18" charset="0"/>
                <a:cs typeface="Times New Roman" panose="02020603050405020304" pitchFamily="18" charset="0"/>
              </a:rPr>
              <a:t>City</a:t>
            </a:r>
            <a:r>
              <a:rPr lang="en-US" sz="2000" cap="none" dirty="0">
                <a:latin typeface="Times New Roman" panose="02020603050405020304" pitchFamily="18" charset="0"/>
                <a:cs typeface="Times New Roman" panose="02020603050405020304" pitchFamily="18" charset="0"/>
              </a:rPr>
              <a:t> – Name of the city where air quality and meteorological data were recorded.</a:t>
            </a:r>
          </a:p>
          <a:p>
            <a:r>
              <a:rPr lang="en-US" sz="2000" b="1" cap="none" dirty="0">
                <a:latin typeface="Times New Roman" panose="02020603050405020304" pitchFamily="18" charset="0"/>
                <a:cs typeface="Times New Roman" panose="02020603050405020304" pitchFamily="18" charset="0"/>
              </a:rPr>
              <a:t>State</a:t>
            </a:r>
            <a:r>
              <a:rPr lang="en-US" sz="2000" cap="none" dirty="0">
                <a:latin typeface="Times New Roman" panose="02020603050405020304" pitchFamily="18" charset="0"/>
                <a:cs typeface="Times New Roman" panose="02020603050405020304" pitchFamily="18" charset="0"/>
              </a:rPr>
              <a:t> – Administrative state corresponding to each city, used for regional comparison.</a:t>
            </a:r>
          </a:p>
          <a:p>
            <a:r>
              <a:rPr lang="en-US" sz="2000" b="1" cap="none" dirty="0">
                <a:latin typeface="Times New Roman" panose="02020603050405020304" pitchFamily="18" charset="0"/>
                <a:cs typeface="Times New Roman" panose="02020603050405020304" pitchFamily="18" charset="0"/>
              </a:rPr>
              <a:t>Datetime</a:t>
            </a:r>
            <a:r>
              <a:rPr lang="en-US" sz="2000" cap="none" dirty="0">
                <a:latin typeface="Times New Roman" panose="02020603050405020304" pitchFamily="18" charset="0"/>
                <a:cs typeface="Times New Roman" panose="02020603050405020304" pitchFamily="18" charset="0"/>
              </a:rPr>
              <a:t> – Exact date and time of each observation, enabling time-series analysis (</a:t>
            </a:r>
            <a:r>
              <a:rPr lang="en-US" sz="2000" cap="none" dirty="0" err="1">
                <a:latin typeface="Times New Roman" panose="02020603050405020304" pitchFamily="18" charset="0"/>
                <a:cs typeface="Times New Roman" panose="02020603050405020304" pitchFamily="18" charset="0"/>
              </a:rPr>
              <a:t>Year,Month,Day</a:t>
            </a:r>
            <a:r>
              <a:rPr lang="en-US" sz="2000" cap="none" dirty="0">
                <a:latin typeface="Times New Roman" panose="02020603050405020304" pitchFamily="18" charset="0"/>
                <a:cs typeface="Times New Roman" panose="02020603050405020304" pitchFamily="18" charset="0"/>
              </a:rPr>
              <a:t>, Hour, </a:t>
            </a:r>
            <a:r>
              <a:rPr lang="en-US" sz="2000" cap="none" dirty="0" err="1">
                <a:latin typeface="Times New Roman" panose="02020603050405020304" pitchFamily="18" charset="0"/>
                <a:cs typeface="Times New Roman" panose="02020603050405020304" pitchFamily="18" charset="0"/>
              </a:rPr>
              <a:t>Day_of_week</a:t>
            </a:r>
            <a:r>
              <a:rPr lang="en-US" sz="2000" cap="none" dirty="0">
                <a:latin typeface="Times New Roman" panose="02020603050405020304" pitchFamily="18" charset="0"/>
                <a:cs typeface="Times New Roman" panose="02020603050405020304" pitchFamily="18" charset="0"/>
              </a:rPr>
              <a:t>, </a:t>
            </a:r>
            <a:r>
              <a:rPr lang="en-US" sz="2000" cap="none" dirty="0" err="1">
                <a:latin typeface="Times New Roman" panose="02020603050405020304" pitchFamily="18" charset="0"/>
                <a:cs typeface="Times New Roman" panose="02020603050405020304" pitchFamily="18" charset="0"/>
              </a:rPr>
              <a:t>Day_Name</a:t>
            </a:r>
            <a:r>
              <a:rPr lang="en-US" sz="2000" cap="none" dirty="0">
                <a:latin typeface="Times New Roman" panose="02020603050405020304" pitchFamily="18" charset="0"/>
                <a:cs typeface="Times New Roman" panose="02020603050405020304" pitchFamily="18" charset="0"/>
              </a:rPr>
              <a:t>, </a:t>
            </a:r>
            <a:r>
              <a:rPr lang="en-US" sz="2000" cap="none" dirty="0" err="1">
                <a:latin typeface="Times New Roman" panose="02020603050405020304" pitchFamily="18" charset="0"/>
                <a:cs typeface="Times New Roman" panose="02020603050405020304" pitchFamily="18" charset="0"/>
              </a:rPr>
              <a:t>Week_of_year</a:t>
            </a:r>
            <a:r>
              <a:rPr lang="en-US" sz="2000" cap="none" dirty="0">
                <a:latin typeface="Times New Roman" panose="02020603050405020304" pitchFamily="18" charset="0"/>
                <a:cs typeface="Times New Roman" panose="02020603050405020304" pitchFamily="18" charset="0"/>
              </a:rPr>
              <a:t>, </a:t>
            </a:r>
            <a:r>
              <a:rPr lang="en-US" sz="2000" cap="none" dirty="0" err="1">
                <a:latin typeface="Times New Roman" panose="02020603050405020304" pitchFamily="18" charset="0"/>
                <a:cs typeface="Times New Roman" panose="02020603050405020304" pitchFamily="18" charset="0"/>
              </a:rPr>
              <a:t>Is_weekend</a:t>
            </a:r>
            <a:r>
              <a:rPr lang="en-US" sz="2000" cap="none" dirty="0">
                <a:latin typeface="Times New Roman" panose="02020603050405020304" pitchFamily="18" charset="0"/>
                <a:cs typeface="Times New Roman" panose="02020603050405020304" pitchFamily="18" charset="0"/>
              </a:rPr>
              <a:t>, </a:t>
            </a:r>
            <a:r>
              <a:rPr lang="en-US" sz="2000" cap="none" dirty="0" err="1">
                <a:latin typeface="Times New Roman" panose="02020603050405020304" pitchFamily="18" charset="0"/>
                <a:cs typeface="Times New Roman" panose="02020603050405020304" pitchFamily="18" charset="0"/>
              </a:rPr>
              <a:t>Quarter,Time_of</a:t>
            </a:r>
            <a:r>
              <a:rPr lang="en-US" sz="2000" cap="none" dirty="0">
                <a:latin typeface="Times New Roman" panose="02020603050405020304" pitchFamily="18" charset="0"/>
                <a:cs typeface="Times New Roman" panose="02020603050405020304" pitchFamily="18" charset="0"/>
              </a:rPr>
              <a:t> _</a:t>
            </a:r>
            <a:r>
              <a:rPr lang="en-US" sz="2000" cap="none" dirty="0" err="1">
                <a:latin typeface="Times New Roman" panose="02020603050405020304" pitchFamily="18" charset="0"/>
                <a:cs typeface="Times New Roman" panose="02020603050405020304" pitchFamily="18" charset="0"/>
              </a:rPr>
              <a:t>Day,Season</a:t>
            </a:r>
            <a:r>
              <a:rPr lang="en-US" sz="2000" cap="none" dirty="0">
                <a:latin typeface="Times New Roman" panose="02020603050405020304" pitchFamily="18" charset="0"/>
                <a:cs typeface="Times New Roman" panose="02020603050405020304" pitchFamily="18" charset="0"/>
              </a:rPr>
              <a:t> these are the columns that are derived from Datetime)</a:t>
            </a:r>
          </a:p>
          <a:p>
            <a:endParaRPr lang="en-US" dirty="0"/>
          </a:p>
          <a:p>
            <a:endParaRPr lang="en-US" dirty="0"/>
          </a:p>
          <a:p>
            <a:endParaRPr lang="en-IN" dirty="0"/>
          </a:p>
        </p:txBody>
      </p:sp>
      <p:pic>
        <p:nvPicPr>
          <p:cNvPr id="12" name="Picture Placeholder 11">
            <a:extLst>
              <a:ext uri="{FF2B5EF4-FFF2-40B4-BE49-F238E27FC236}">
                <a16:creationId xmlns:a16="http://schemas.microsoft.com/office/drawing/2014/main" id="{CAC4BA8E-341C-B090-845C-2BC8EE34A5C4}"/>
              </a:ext>
            </a:extLst>
          </p:cNvPr>
          <p:cNvPicPr>
            <a:picLocks noGrp="1" noChangeAspect="1"/>
          </p:cNvPicPr>
          <p:nvPr>
            <p:ph type="pic" sz="quarter" idx="13"/>
          </p:nvPr>
        </p:nvPicPr>
        <p:blipFill>
          <a:blip r:embed="rId2"/>
          <a:srcRect l="22000" r="22000"/>
          <a:stretch>
            <a:fillRect/>
          </a:stretch>
        </p:blipFill>
        <p:spPr/>
      </p:pic>
    </p:spTree>
    <p:extLst>
      <p:ext uri="{BB962C8B-B14F-4D97-AF65-F5344CB8AC3E}">
        <p14:creationId xmlns:p14="http://schemas.microsoft.com/office/powerpoint/2010/main" val="3517868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1C1CE-EA0E-D5E8-6B1A-5C27857D2066}"/>
              </a:ext>
            </a:extLst>
          </p:cNvPr>
          <p:cNvSpPr>
            <a:spLocks noGrp="1"/>
          </p:cNvSpPr>
          <p:nvPr>
            <p:ph type="title"/>
          </p:nvPr>
        </p:nvSpPr>
        <p:spPr>
          <a:xfrm>
            <a:off x="2327867" y="238626"/>
            <a:ext cx="8485420" cy="340622"/>
          </a:xfrm>
        </p:spPr>
        <p:txBody>
          <a:bodyPr/>
          <a:lstStyle/>
          <a:p>
            <a:pPr algn="ctr"/>
            <a:r>
              <a:rPr lang="en-IN" dirty="0"/>
              <a:t>Meteorological &amp; Weather Variables</a:t>
            </a:r>
          </a:p>
        </p:txBody>
      </p:sp>
      <p:graphicFrame>
        <p:nvGraphicFramePr>
          <p:cNvPr id="4" name="Table Placeholder 3">
            <a:extLst>
              <a:ext uri="{FF2B5EF4-FFF2-40B4-BE49-F238E27FC236}">
                <a16:creationId xmlns:a16="http://schemas.microsoft.com/office/drawing/2014/main" id="{16D9FAF3-FB84-D1A3-01FF-BDFAD88F4A84}"/>
              </a:ext>
            </a:extLst>
          </p:cNvPr>
          <p:cNvGraphicFramePr>
            <a:graphicFrameLocks noGrp="1"/>
          </p:cNvGraphicFramePr>
          <p:nvPr>
            <p:ph type="tbl" sz="quarter" idx="13"/>
            <p:extLst>
              <p:ext uri="{D42A27DB-BD31-4B8C-83A1-F6EECF244321}">
                <p14:modId xmlns:p14="http://schemas.microsoft.com/office/powerpoint/2010/main" val="516833780"/>
              </p:ext>
            </p:extLst>
          </p:nvPr>
        </p:nvGraphicFramePr>
        <p:xfrm>
          <a:off x="1167697" y="1237989"/>
          <a:ext cx="9856605" cy="5120640"/>
        </p:xfrm>
        <a:graphic>
          <a:graphicData uri="http://schemas.openxmlformats.org/drawingml/2006/table">
            <a:tbl>
              <a:tblPr firstRow="1" bandRow="1">
                <a:tableStyleId>{BC89EF96-8CEA-46FF-86C4-4CE0E7609802}</a:tableStyleId>
              </a:tblPr>
              <a:tblGrid>
                <a:gridCol w="2140299">
                  <a:extLst>
                    <a:ext uri="{9D8B030D-6E8A-4147-A177-3AD203B41FA5}">
                      <a16:colId xmlns:a16="http://schemas.microsoft.com/office/drawing/2014/main" val="1698421510"/>
                    </a:ext>
                  </a:extLst>
                </a:gridCol>
                <a:gridCol w="7716306">
                  <a:extLst>
                    <a:ext uri="{9D8B030D-6E8A-4147-A177-3AD203B41FA5}">
                      <a16:colId xmlns:a16="http://schemas.microsoft.com/office/drawing/2014/main" val="3617176714"/>
                    </a:ext>
                  </a:extLst>
                </a:gridCol>
              </a:tblGrid>
              <a:tr h="554924">
                <a:tc>
                  <a:txBody>
                    <a:bodyPr/>
                    <a:lstStyle/>
                    <a:p>
                      <a:r>
                        <a:rPr lang="en-IN" b="1" dirty="0">
                          <a:latin typeface="Times New Roman" panose="02020603050405020304" pitchFamily="18" charset="0"/>
                          <a:cs typeface="Times New Roman" panose="02020603050405020304" pitchFamily="18" charset="0"/>
                        </a:rPr>
                        <a:t>Temp_2m_C</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Air temperature measured at 2 meters above ground level, used to assess the influence of thermal conditions on air pollution.</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1117555"/>
                  </a:ext>
                </a:extLst>
              </a:tr>
              <a:tr h="554924">
                <a:tc>
                  <a:txBody>
                    <a:bodyPr/>
                    <a:lstStyle/>
                    <a:p>
                      <a:r>
                        <a:rPr lang="en-IN" b="1" dirty="0" err="1">
                          <a:latin typeface="Times New Roman" panose="02020603050405020304" pitchFamily="18" charset="0"/>
                          <a:cs typeface="Times New Roman" panose="02020603050405020304" pitchFamily="18" charset="0"/>
                        </a:rPr>
                        <a:t>Humidity_Percent</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Relative humidity of the air expressed as a percentage, indicating moisture content that can affect pollutant formation and dispersion.</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0737620"/>
                  </a:ext>
                </a:extLst>
              </a:tr>
              <a:tr h="554924">
                <a:tc>
                  <a:txBody>
                    <a:bodyPr/>
                    <a:lstStyle/>
                    <a:p>
                      <a:r>
                        <a:rPr lang="en-IN" b="1" dirty="0" err="1">
                          <a:latin typeface="Times New Roman" panose="02020603050405020304" pitchFamily="18" charset="0"/>
                          <a:cs typeface="Times New Roman" panose="02020603050405020304" pitchFamily="18" charset="0"/>
                        </a:rPr>
                        <a:t>Humidity_Category</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Categorical classification of humidity levels (e.g., low, moderate, high) for comparative and grouped analysis.</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1465290"/>
                  </a:ext>
                </a:extLst>
              </a:tr>
              <a:tr h="554924">
                <a:tc>
                  <a:txBody>
                    <a:bodyPr/>
                    <a:lstStyle/>
                    <a:p>
                      <a:r>
                        <a:rPr lang="en-IN" b="1" dirty="0">
                          <a:latin typeface="Times New Roman" panose="02020603050405020304" pitchFamily="18" charset="0"/>
                          <a:cs typeface="Times New Roman" panose="02020603050405020304" pitchFamily="18" charset="0"/>
                        </a:rPr>
                        <a:t>Wind_Speed_10m_kmh</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Wind speed measured at 10 meters above ground in km/h, representing atmospheric ventilation and pollutant dispersion capacity.</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6916878"/>
                  </a:ext>
                </a:extLst>
              </a:tr>
              <a:tr h="554924">
                <a:tc>
                  <a:txBody>
                    <a:bodyPr/>
                    <a:lstStyle/>
                    <a:p>
                      <a:r>
                        <a:rPr lang="en-IN" b="1" dirty="0" err="1">
                          <a:latin typeface="Times New Roman" panose="02020603050405020304" pitchFamily="18" charset="0"/>
                          <a:cs typeface="Times New Roman" panose="02020603050405020304" pitchFamily="18" charset="0"/>
                        </a:rPr>
                        <a:t>Wind_Category</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Categorized wind speed levels used to evaluate pollution behavior under different ventilation conditions.</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74169376"/>
                  </a:ext>
                </a:extLst>
              </a:tr>
              <a:tr h="554924">
                <a:tc>
                  <a:txBody>
                    <a:bodyPr/>
                    <a:lstStyle/>
                    <a:p>
                      <a:r>
                        <a:rPr lang="en-IN" b="1" dirty="0" err="1">
                          <a:latin typeface="Times New Roman" panose="02020603050405020304" pitchFamily="18" charset="0"/>
                          <a:cs typeface="Times New Roman" panose="02020603050405020304" pitchFamily="18" charset="0"/>
                        </a:rPr>
                        <a:t>Wind_Stagnation</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Indicator of stagnant atmospheric conditions characterized by low wind speeds, which promote pollutant accumulation.</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03495391"/>
                  </a:ext>
                </a:extLst>
              </a:tr>
              <a:tr h="554924">
                <a:tc>
                  <a:txBody>
                    <a:bodyPr/>
                    <a:lstStyle/>
                    <a:p>
                      <a:r>
                        <a:rPr lang="en-IN" b="1" dirty="0" err="1">
                          <a:latin typeface="Times New Roman" panose="02020603050405020304" pitchFamily="18" charset="0"/>
                          <a:cs typeface="Times New Roman" panose="02020603050405020304" pitchFamily="18" charset="0"/>
                        </a:rPr>
                        <a:t>Is_Raining</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Binary variable indicating whether rainfall occurred, enabling comparison between rainy and non-rainy periods.</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4726299"/>
                  </a:ext>
                </a:extLst>
              </a:tr>
              <a:tr h="554924">
                <a:tc>
                  <a:txBody>
                    <a:bodyPr/>
                    <a:lstStyle/>
                    <a:p>
                      <a:r>
                        <a:rPr lang="en-IN" b="1" dirty="0" err="1">
                          <a:latin typeface="Times New Roman" panose="02020603050405020304" pitchFamily="18" charset="0"/>
                          <a:cs typeface="Times New Roman" panose="02020603050405020304" pitchFamily="18" charset="0"/>
                        </a:rPr>
                        <a:t>Heavy_Rain</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Binary indicator identifying heavy rainfall events, useful for assessing strong pollutant removal effects.</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93371636"/>
                  </a:ext>
                </a:extLst>
              </a:tr>
            </a:tbl>
          </a:graphicData>
        </a:graphic>
      </p:graphicFrame>
    </p:spTree>
    <p:extLst>
      <p:ext uri="{BB962C8B-B14F-4D97-AF65-F5344CB8AC3E}">
        <p14:creationId xmlns:p14="http://schemas.microsoft.com/office/powerpoint/2010/main" val="2438356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DDDAF-E1BA-78C6-6486-DEFB7D6D3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E0C57-C14B-F7D4-F700-5CB61F3E423B}"/>
              </a:ext>
            </a:extLst>
          </p:cNvPr>
          <p:cNvSpPr>
            <a:spLocks noGrp="1"/>
          </p:cNvSpPr>
          <p:nvPr>
            <p:ph type="title"/>
          </p:nvPr>
        </p:nvSpPr>
        <p:spPr>
          <a:xfrm>
            <a:off x="2327867" y="238626"/>
            <a:ext cx="8485420" cy="611606"/>
          </a:xfrm>
        </p:spPr>
        <p:txBody>
          <a:bodyPr/>
          <a:lstStyle/>
          <a:p>
            <a:pPr algn="ctr"/>
            <a:r>
              <a:rPr lang="en-IN" cap="none" dirty="0"/>
              <a:t>Air Pollution &amp; Particulate Matter</a:t>
            </a:r>
          </a:p>
        </p:txBody>
      </p:sp>
      <p:graphicFrame>
        <p:nvGraphicFramePr>
          <p:cNvPr id="4" name="Table Placeholder 3">
            <a:extLst>
              <a:ext uri="{FF2B5EF4-FFF2-40B4-BE49-F238E27FC236}">
                <a16:creationId xmlns:a16="http://schemas.microsoft.com/office/drawing/2014/main" id="{EEB90FB5-777E-9B61-17EC-C02A0849FD5D}"/>
              </a:ext>
            </a:extLst>
          </p:cNvPr>
          <p:cNvGraphicFramePr>
            <a:graphicFrameLocks noGrp="1"/>
          </p:cNvGraphicFramePr>
          <p:nvPr>
            <p:ph type="tbl" sz="quarter" idx="13"/>
            <p:extLst>
              <p:ext uri="{D42A27DB-BD31-4B8C-83A1-F6EECF244321}">
                <p14:modId xmlns:p14="http://schemas.microsoft.com/office/powerpoint/2010/main" val="45123111"/>
              </p:ext>
            </p:extLst>
          </p:nvPr>
        </p:nvGraphicFramePr>
        <p:xfrm>
          <a:off x="894981" y="1104998"/>
          <a:ext cx="10655335" cy="5394960"/>
        </p:xfrm>
        <a:graphic>
          <a:graphicData uri="http://schemas.openxmlformats.org/drawingml/2006/table">
            <a:tbl>
              <a:tblPr firstRow="1" bandRow="1">
                <a:tableStyleId>{BC89EF96-8CEA-46FF-86C4-4CE0E7609802}</a:tableStyleId>
              </a:tblPr>
              <a:tblGrid>
                <a:gridCol w="2313738">
                  <a:extLst>
                    <a:ext uri="{9D8B030D-6E8A-4147-A177-3AD203B41FA5}">
                      <a16:colId xmlns:a16="http://schemas.microsoft.com/office/drawing/2014/main" val="1698421510"/>
                    </a:ext>
                  </a:extLst>
                </a:gridCol>
                <a:gridCol w="8341597">
                  <a:extLst>
                    <a:ext uri="{9D8B030D-6E8A-4147-A177-3AD203B41FA5}">
                      <a16:colId xmlns:a16="http://schemas.microsoft.com/office/drawing/2014/main" val="3617176714"/>
                    </a:ext>
                  </a:extLst>
                </a:gridCol>
              </a:tblGrid>
              <a:tr h="330424">
                <a:tc>
                  <a:txBody>
                    <a:bodyPr/>
                    <a:lstStyle/>
                    <a:p>
                      <a:r>
                        <a:rPr lang="en-IN" b="1" dirty="0">
                          <a:latin typeface="Times New Roman" panose="02020603050405020304" pitchFamily="18" charset="0"/>
                          <a:cs typeface="Times New Roman" panose="02020603050405020304" pitchFamily="18" charset="0"/>
                        </a:rPr>
                        <a:t>PM2_5_ugm3</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Concentration of fine particulate matter (≤2.5 µm), a major health-relevant pollutant.</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1117555"/>
                  </a:ext>
                </a:extLst>
              </a:tr>
              <a:tr h="463443">
                <a:tc>
                  <a:txBody>
                    <a:bodyPr/>
                    <a:lstStyle/>
                    <a:p>
                      <a:r>
                        <a:rPr lang="en-IN" b="1" dirty="0">
                          <a:latin typeface="Times New Roman" panose="02020603050405020304" pitchFamily="18" charset="0"/>
                          <a:cs typeface="Times New Roman" panose="02020603050405020304" pitchFamily="18" charset="0"/>
                        </a:rPr>
                        <a:t>PM10_ugm3</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Concentration of coarse particulate matter (≤10 µm), contributing to overall air quality degradation.</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0737620"/>
                  </a:ext>
                </a:extLst>
              </a:tr>
              <a:tr h="463443">
                <a:tc>
                  <a:txBody>
                    <a:bodyPr/>
                    <a:lstStyle/>
                    <a:p>
                      <a:r>
                        <a:rPr lang="en-IN" b="1" dirty="0" err="1">
                          <a:latin typeface="Times New Roman" panose="02020603050405020304" pitchFamily="18" charset="0"/>
                          <a:cs typeface="Times New Roman" panose="02020603050405020304" pitchFamily="18" charset="0"/>
                        </a:rPr>
                        <a:t>PM_Ratio</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Ratio of PM2.5 to PM10, indicating dominance of fine particles in total particulate pollution.</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1465290"/>
                  </a:ext>
                </a:extLst>
              </a:tr>
              <a:tr h="472034">
                <a:tc>
                  <a:txBody>
                    <a:bodyPr/>
                    <a:lstStyle/>
                    <a:p>
                      <a:r>
                        <a:rPr lang="en-IN" b="1" dirty="0">
                          <a:latin typeface="Times New Roman" panose="02020603050405020304" pitchFamily="18" charset="0"/>
                          <a:cs typeface="Times New Roman" panose="02020603050405020304" pitchFamily="18" charset="0"/>
                        </a:rPr>
                        <a:t>CO_ugm3</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Concentration of carbon monoxide (CO) in micrograms per cubic meter, indicating emissions from incomplete combustion sources such as vehicles and biomass burning.</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6916878"/>
                  </a:ext>
                </a:extLst>
              </a:tr>
              <a:tr h="662061">
                <a:tc>
                  <a:txBody>
                    <a:bodyPr/>
                    <a:lstStyle/>
                    <a:p>
                      <a:r>
                        <a:rPr lang="en-IN" b="1" dirty="0">
                          <a:latin typeface="Times New Roman" panose="02020603050405020304" pitchFamily="18" charset="0"/>
                          <a:cs typeface="Times New Roman" panose="02020603050405020304" pitchFamily="18" charset="0"/>
                        </a:rPr>
                        <a:t>NO2_ugm3</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Concentration of nitrogen dioxide (NO₂) in micrograms per cubic meter, primarily emitted from traffic and industrial activities and involved in secondary pollutant formation.</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74169376"/>
                  </a:ext>
                </a:extLst>
              </a:tr>
              <a:tr h="463443">
                <a:tc>
                  <a:txBody>
                    <a:bodyPr/>
                    <a:lstStyle/>
                    <a:p>
                      <a:r>
                        <a:rPr lang="en-IN" b="1" dirty="0">
                          <a:latin typeface="Times New Roman" panose="02020603050405020304" pitchFamily="18" charset="0"/>
                          <a:cs typeface="Times New Roman" panose="02020603050405020304" pitchFamily="18" charset="0"/>
                        </a:rPr>
                        <a:t>SO2_ugm3</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Concentration of sulfur dioxide (SO₂) in micrograms per cubic meter, mainly originating from fossil fuel combustion and industrial processes.</a:t>
                      </a:r>
                    </a:p>
                  </a:txBody>
                  <a:tcPr/>
                </a:tc>
                <a:extLst>
                  <a:ext uri="{0D108BD9-81ED-4DB2-BD59-A6C34878D82A}">
                    <a16:rowId xmlns:a16="http://schemas.microsoft.com/office/drawing/2014/main" val="3803495391"/>
                  </a:ext>
                </a:extLst>
              </a:tr>
              <a:tr h="662061">
                <a:tc>
                  <a:txBody>
                    <a:bodyPr/>
                    <a:lstStyle/>
                    <a:p>
                      <a:r>
                        <a:rPr lang="en-IN" b="1" dirty="0">
                          <a:latin typeface="Times New Roman" panose="02020603050405020304" pitchFamily="18" charset="0"/>
                          <a:cs typeface="Times New Roman" panose="02020603050405020304" pitchFamily="18" charset="0"/>
                        </a:rPr>
                        <a:t>O3_ugm3</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Concentration of ground-level ozone (O₃) in micrograms per cubic meter, a secondary pollutant formed through photochemical reactions involving nitrogen oxides and sunlight.</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4726299"/>
                  </a:ext>
                </a:extLst>
              </a:tr>
              <a:tr h="463443">
                <a:tc>
                  <a:txBody>
                    <a:bodyPr/>
                    <a:lstStyle/>
                    <a:p>
                      <a:r>
                        <a:rPr lang="en-IN" b="1" dirty="0">
                          <a:latin typeface="Times New Roman" panose="02020603050405020304" pitchFamily="18" charset="0"/>
                          <a:cs typeface="Times New Roman" panose="02020603050405020304" pitchFamily="18" charset="0"/>
                        </a:rPr>
                        <a:t>Dust_ugm3</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Concentration of dust particles in micrograms per cubic meter, representing natural and resuspended particulate matter contributions to air pollution.</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93371636"/>
                  </a:ext>
                </a:extLst>
              </a:tr>
            </a:tbl>
          </a:graphicData>
        </a:graphic>
      </p:graphicFrame>
    </p:spTree>
    <p:extLst>
      <p:ext uri="{BB962C8B-B14F-4D97-AF65-F5344CB8AC3E}">
        <p14:creationId xmlns:p14="http://schemas.microsoft.com/office/powerpoint/2010/main" val="1750387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7087D-1ABD-1D23-85C9-6F3F7A46A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C621B-92C9-83A9-7784-794D54C7B9B8}"/>
              </a:ext>
            </a:extLst>
          </p:cNvPr>
          <p:cNvSpPr>
            <a:spLocks noGrp="1"/>
          </p:cNvSpPr>
          <p:nvPr>
            <p:ph type="title"/>
          </p:nvPr>
        </p:nvSpPr>
        <p:spPr>
          <a:xfrm>
            <a:off x="2375993" y="832184"/>
            <a:ext cx="8485420" cy="611606"/>
          </a:xfrm>
        </p:spPr>
        <p:txBody>
          <a:bodyPr/>
          <a:lstStyle/>
          <a:p>
            <a:pPr algn="ctr"/>
            <a:r>
              <a:rPr lang="en-US" cap="none" dirty="0"/>
              <a:t>Air Quality Index (AQI) Metrics</a:t>
            </a:r>
            <a:endParaRPr lang="en-IN" cap="none" dirty="0"/>
          </a:p>
        </p:txBody>
      </p:sp>
      <p:graphicFrame>
        <p:nvGraphicFramePr>
          <p:cNvPr id="4" name="Table Placeholder 3">
            <a:extLst>
              <a:ext uri="{FF2B5EF4-FFF2-40B4-BE49-F238E27FC236}">
                <a16:creationId xmlns:a16="http://schemas.microsoft.com/office/drawing/2014/main" id="{07C1F860-BF22-ED16-59AB-CC391FB7CF96}"/>
              </a:ext>
            </a:extLst>
          </p:cNvPr>
          <p:cNvGraphicFramePr>
            <a:graphicFrameLocks noGrp="1"/>
          </p:cNvGraphicFramePr>
          <p:nvPr>
            <p:ph type="tbl" sz="quarter" idx="13"/>
            <p:extLst>
              <p:ext uri="{D42A27DB-BD31-4B8C-83A1-F6EECF244321}">
                <p14:modId xmlns:p14="http://schemas.microsoft.com/office/powerpoint/2010/main" val="2035819310"/>
              </p:ext>
            </p:extLst>
          </p:nvPr>
        </p:nvGraphicFramePr>
        <p:xfrm>
          <a:off x="914400" y="1983908"/>
          <a:ext cx="10700084" cy="2991706"/>
        </p:xfrm>
        <a:graphic>
          <a:graphicData uri="http://schemas.openxmlformats.org/drawingml/2006/table">
            <a:tbl>
              <a:tblPr firstRow="1" bandRow="1">
                <a:tableStyleId>{BC89EF96-8CEA-46FF-86C4-4CE0E7609802}</a:tableStyleId>
              </a:tblPr>
              <a:tblGrid>
                <a:gridCol w="2358487">
                  <a:extLst>
                    <a:ext uri="{9D8B030D-6E8A-4147-A177-3AD203B41FA5}">
                      <a16:colId xmlns:a16="http://schemas.microsoft.com/office/drawing/2014/main" val="1698421510"/>
                    </a:ext>
                  </a:extLst>
                </a:gridCol>
                <a:gridCol w="8341597">
                  <a:extLst>
                    <a:ext uri="{9D8B030D-6E8A-4147-A177-3AD203B41FA5}">
                      <a16:colId xmlns:a16="http://schemas.microsoft.com/office/drawing/2014/main" val="3617176714"/>
                    </a:ext>
                  </a:extLst>
                </a:gridCol>
              </a:tblGrid>
              <a:tr h="467282">
                <a:tc>
                  <a:txBody>
                    <a:bodyPr/>
                    <a:lstStyle/>
                    <a:p>
                      <a:r>
                        <a:rPr lang="en-IN" b="1" dirty="0">
                          <a:latin typeface="Times New Roman" panose="02020603050405020304" pitchFamily="18" charset="0"/>
                          <a:cs typeface="Times New Roman" panose="02020603050405020304" pitchFamily="18" charset="0"/>
                        </a:rPr>
                        <a:t>US_AQI</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Overall Air Quality Index calculated using US EPA standards.</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1117555"/>
                  </a:ext>
                </a:extLst>
              </a:tr>
              <a:tr h="463443">
                <a:tc>
                  <a:txBody>
                    <a:bodyPr/>
                    <a:lstStyle/>
                    <a:p>
                      <a:r>
                        <a:rPr lang="en-IN" b="1" dirty="0">
                          <a:latin typeface="Times New Roman" panose="02020603050405020304" pitchFamily="18" charset="0"/>
                          <a:cs typeface="Times New Roman" panose="02020603050405020304" pitchFamily="18" charset="0"/>
                        </a:rPr>
                        <a:t>US_AQI_PM25</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AQI sub-index derived specifically from PM2.5 concentrations.</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0737620"/>
                  </a:ext>
                </a:extLst>
              </a:tr>
              <a:tr h="463443">
                <a:tc>
                  <a:txBody>
                    <a:bodyPr/>
                    <a:lstStyle/>
                    <a:p>
                      <a:r>
                        <a:rPr lang="en-IN" b="1" dirty="0">
                          <a:latin typeface="Times New Roman" panose="02020603050405020304" pitchFamily="18" charset="0"/>
                          <a:cs typeface="Times New Roman" panose="02020603050405020304" pitchFamily="18" charset="0"/>
                        </a:rPr>
                        <a:t>US_AQI_PM10</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AQI sub-index derived from PM10 concentrations.</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1465290"/>
                  </a:ext>
                </a:extLst>
              </a:tr>
              <a:tr h="472034">
                <a:tc>
                  <a:txBody>
                    <a:bodyPr/>
                    <a:lstStyle/>
                    <a:p>
                      <a:r>
                        <a:rPr lang="en-IN" b="1" dirty="0" err="1">
                          <a:latin typeface="Times New Roman" panose="02020603050405020304" pitchFamily="18" charset="0"/>
                          <a:cs typeface="Times New Roman" panose="02020603050405020304" pitchFamily="18" charset="0"/>
                        </a:rPr>
                        <a:t>AQI_Category</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Categorical classification of AQI levels (e.g., Good, Moderate, Poor).</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6916878"/>
                  </a:ext>
                </a:extLst>
              </a:tr>
              <a:tr h="662061">
                <a:tc>
                  <a:txBody>
                    <a:bodyPr/>
                    <a:lstStyle/>
                    <a:p>
                      <a:r>
                        <a:rPr lang="en-IN" b="1" dirty="0">
                          <a:latin typeface="Times New Roman" panose="02020603050405020304" pitchFamily="18" charset="0"/>
                          <a:cs typeface="Times New Roman" panose="02020603050405020304" pitchFamily="18" charset="0"/>
                        </a:rPr>
                        <a:t>PM25_Category_India</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PM2.5 category based on Indian National Ambient Air Quality Standards.</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74169376"/>
                  </a:ext>
                </a:extLst>
              </a:tr>
              <a:tr h="463443">
                <a:tc>
                  <a:txBody>
                    <a:bodyPr/>
                    <a:lstStyle/>
                    <a:p>
                      <a:r>
                        <a:rPr lang="en-IN" b="1" dirty="0" err="1">
                          <a:latin typeface="Times New Roman" panose="02020603050405020304" pitchFamily="18" charset="0"/>
                          <a:cs typeface="Times New Roman" panose="02020603050405020304" pitchFamily="18" charset="0"/>
                        </a:rPr>
                        <a:t>WHO_Exceed</a:t>
                      </a:r>
                      <a:r>
                        <a:rPr lang="en-IN" dirty="0">
                          <a:latin typeface="Times New Roman" panose="02020603050405020304" pitchFamily="18" charset="0"/>
                          <a:cs typeface="Times New Roman" panose="02020603050405020304" pitchFamily="18" charset="0"/>
                        </a:rPr>
                        <a:t> </a:t>
                      </a:r>
                    </a:p>
                  </a:txBody>
                  <a:tcPr/>
                </a:tc>
                <a:tc>
                  <a:txBody>
                    <a:bodyPr/>
                    <a:lstStyle/>
                    <a:p>
                      <a:r>
                        <a:rPr lang="en-US" b="0" dirty="0">
                          <a:latin typeface="Times New Roman" panose="02020603050405020304" pitchFamily="18" charset="0"/>
                          <a:cs typeface="Times New Roman" panose="02020603050405020304" pitchFamily="18" charset="0"/>
                        </a:rPr>
                        <a:t>Binary indicator showing whether PM2.5 exceeds WHO recommended limits.</a:t>
                      </a:r>
                    </a:p>
                  </a:txBody>
                  <a:tcPr/>
                </a:tc>
                <a:extLst>
                  <a:ext uri="{0D108BD9-81ED-4DB2-BD59-A6C34878D82A}">
                    <a16:rowId xmlns:a16="http://schemas.microsoft.com/office/drawing/2014/main" val="3803495391"/>
                  </a:ext>
                </a:extLst>
              </a:tr>
            </a:tbl>
          </a:graphicData>
        </a:graphic>
      </p:graphicFrame>
    </p:spTree>
    <p:extLst>
      <p:ext uri="{BB962C8B-B14F-4D97-AF65-F5344CB8AC3E}">
        <p14:creationId xmlns:p14="http://schemas.microsoft.com/office/powerpoint/2010/main" val="3419809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70AEB-482B-51DE-E26A-D10781CD3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9C30F-E8D8-28CC-54A3-0284697FD7B9}"/>
              </a:ext>
            </a:extLst>
          </p:cNvPr>
          <p:cNvSpPr>
            <a:spLocks noGrp="1"/>
          </p:cNvSpPr>
          <p:nvPr>
            <p:ph type="title"/>
          </p:nvPr>
        </p:nvSpPr>
        <p:spPr>
          <a:xfrm>
            <a:off x="2375992" y="1049755"/>
            <a:ext cx="8485420" cy="611606"/>
          </a:xfrm>
        </p:spPr>
        <p:txBody>
          <a:bodyPr/>
          <a:lstStyle/>
          <a:p>
            <a:pPr algn="ctr"/>
            <a:r>
              <a:rPr lang="en-IN" cap="none" dirty="0"/>
              <a:t>Event &amp; Seasonal Activity Indicators</a:t>
            </a:r>
          </a:p>
        </p:txBody>
      </p:sp>
      <p:graphicFrame>
        <p:nvGraphicFramePr>
          <p:cNvPr id="4" name="Table Placeholder 3">
            <a:extLst>
              <a:ext uri="{FF2B5EF4-FFF2-40B4-BE49-F238E27FC236}">
                <a16:creationId xmlns:a16="http://schemas.microsoft.com/office/drawing/2014/main" id="{E3D7C773-BE0E-3ED8-64B5-EFEB97B99C6A}"/>
              </a:ext>
            </a:extLst>
          </p:cNvPr>
          <p:cNvGraphicFramePr>
            <a:graphicFrameLocks noGrp="1"/>
          </p:cNvGraphicFramePr>
          <p:nvPr>
            <p:ph type="tbl" sz="quarter" idx="13"/>
            <p:extLst>
              <p:ext uri="{D42A27DB-BD31-4B8C-83A1-F6EECF244321}">
                <p14:modId xmlns:p14="http://schemas.microsoft.com/office/powerpoint/2010/main" val="2902407361"/>
              </p:ext>
            </p:extLst>
          </p:nvPr>
        </p:nvGraphicFramePr>
        <p:xfrm>
          <a:off x="1958471" y="2384961"/>
          <a:ext cx="9320463" cy="3117481"/>
        </p:xfrm>
        <a:graphic>
          <a:graphicData uri="http://schemas.openxmlformats.org/drawingml/2006/table">
            <a:tbl>
              <a:tblPr firstRow="1" bandRow="1">
                <a:tableStyleId>{BC89EF96-8CEA-46FF-86C4-4CE0E7609802}</a:tableStyleId>
              </a:tblPr>
              <a:tblGrid>
                <a:gridCol w="3543971">
                  <a:extLst>
                    <a:ext uri="{9D8B030D-6E8A-4147-A177-3AD203B41FA5}">
                      <a16:colId xmlns:a16="http://schemas.microsoft.com/office/drawing/2014/main" val="1698421510"/>
                    </a:ext>
                  </a:extLst>
                </a:gridCol>
                <a:gridCol w="5776492">
                  <a:extLst>
                    <a:ext uri="{9D8B030D-6E8A-4147-A177-3AD203B41FA5}">
                      <a16:colId xmlns:a16="http://schemas.microsoft.com/office/drawing/2014/main" val="3617176714"/>
                    </a:ext>
                  </a:extLst>
                </a:gridCol>
              </a:tblGrid>
              <a:tr h="1565170">
                <a:tc>
                  <a:txBody>
                    <a:bodyPr/>
                    <a:lstStyle/>
                    <a:p>
                      <a:r>
                        <a:rPr lang="en-IN" sz="2400" dirty="0" err="1">
                          <a:latin typeface="Times New Roman" panose="02020603050405020304" pitchFamily="18" charset="0"/>
                          <a:cs typeface="Times New Roman" panose="02020603050405020304" pitchFamily="18" charset="0"/>
                        </a:rPr>
                        <a:t>Festival_Period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b="0" dirty="0">
                          <a:latin typeface="Times New Roman" panose="02020603050405020304" pitchFamily="18" charset="0"/>
                          <a:cs typeface="Times New Roman" panose="02020603050405020304" pitchFamily="18" charset="0"/>
                        </a:rPr>
                        <a:t>Indicator identifying festival periods associated with short-term emission spikes.</a:t>
                      </a:r>
                      <a:endParaRPr lang="en-IN" sz="2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1117555"/>
                  </a:ext>
                </a:extLst>
              </a:tr>
              <a:tr h="1552311">
                <a:tc>
                  <a:txBody>
                    <a:bodyPr/>
                    <a:lstStyle/>
                    <a:p>
                      <a:r>
                        <a:rPr lang="en-IN" sz="2400" b="1" dirty="0" err="1">
                          <a:latin typeface="Times New Roman" panose="02020603050405020304" pitchFamily="18" charset="0"/>
                          <a:cs typeface="Times New Roman" panose="02020603050405020304" pitchFamily="18" charset="0"/>
                        </a:rPr>
                        <a:t>Crop_Burning_Season</a:t>
                      </a:r>
                      <a:r>
                        <a:rPr lang="en-IN" sz="2400" dirty="0">
                          <a:latin typeface="Times New Roman" panose="02020603050405020304" pitchFamily="18" charset="0"/>
                          <a:cs typeface="Times New Roman" panose="02020603050405020304" pitchFamily="18" charset="0"/>
                        </a:rPr>
                        <a:t> </a:t>
                      </a:r>
                    </a:p>
                  </a:txBody>
                  <a:tcPr/>
                </a:tc>
                <a:tc>
                  <a:txBody>
                    <a:bodyPr/>
                    <a:lstStyle/>
                    <a:p>
                      <a:r>
                        <a:rPr lang="en-US" sz="2400" b="0" dirty="0">
                          <a:latin typeface="Times New Roman" panose="02020603050405020304" pitchFamily="18" charset="0"/>
                          <a:cs typeface="Times New Roman" panose="02020603050405020304" pitchFamily="18" charset="0"/>
                        </a:rPr>
                        <a:t>Indicator marking agricultural burning seasons linked to elevated particulate pollution.</a:t>
                      </a:r>
                      <a:endParaRPr lang="en-IN" sz="2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0737620"/>
                  </a:ext>
                </a:extLst>
              </a:tr>
            </a:tbl>
          </a:graphicData>
        </a:graphic>
      </p:graphicFrame>
    </p:spTree>
    <p:extLst>
      <p:ext uri="{BB962C8B-B14F-4D97-AF65-F5344CB8AC3E}">
        <p14:creationId xmlns:p14="http://schemas.microsoft.com/office/powerpoint/2010/main" val="3504436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FE115-81B9-0CDB-9D1C-D2526A42D26F}"/>
              </a:ext>
            </a:extLst>
          </p:cNvPr>
          <p:cNvSpPr>
            <a:spLocks noGrp="1"/>
          </p:cNvSpPr>
          <p:nvPr>
            <p:ph type="ctrTitle"/>
          </p:nvPr>
        </p:nvSpPr>
        <p:spPr>
          <a:xfrm>
            <a:off x="489858" y="335461"/>
            <a:ext cx="10515600" cy="658017"/>
          </a:xfrm>
        </p:spPr>
        <p:txBody>
          <a:bodyPr>
            <a:normAutofit fontScale="90000"/>
          </a:bodyPr>
          <a:lstStyle/>
          <a:p>
            <a:r>
              <a:rPr lang="en-IN" dirty="0"/>
              <a:t>dataset</a:t>
            </a:r>
          </a:p>
        </p:txBody>
      </p:sp>
      <p:pic>
        <p:nvPicPr>
          <p:cNvPr id="7" name="Picture 6">
            <a:extLst>
              <a:ext uri="{FF2B5EF4-FFF2-40B4-BE49-F238E27FC236}">
                <a16:creationId xmlns:a16="http://schemas.microsoft.com/office/drawing/2014/main" id="{DAFB0F41-FC87-640D-CC21-B8B943F18C1E}"/>
              </a:ext>
            </a:extLst>
          </p:cNvPr>
          <p:cNvPicPr>
            <a:picLocks noChangeAspect="1"/>
          </p:cNvPicPr>
          <p:nvPr/>
        </p:nvPicPr>
        <p:blipFill>
          <a:blip r:embed="rId2"/>
          <a:stretch>
            <a:fillRect/>
          </a:stretch>
        </p:blipFill>
        <p:spPr>
          <a:xfrm>
            <a:off x="1" y="1296237"/>
            <a:ext cx="6169687" cy="5561763"/>
          </a:xfrm>
          <a:prstGeom prst="rect">
            <a:avLst/>
          </a:prstGeom>
        </p:spPr>
      </p:pic>
      <p:pic>
        <p:nvPicPr>
          <p:cNvPr id="9" name="Picture 8">
            <a:extLst>
              <a:ext uri="{FF2B5EF4-FFF2-40B4-BE49-F238E27FC236}">
                <a16:creationId xmlns:a16="http://schemas.microsoft.com/office/drawing/2014/main" id="{E039FCDB-116E-CFAB-10E5-2FE7376E3723}"/>
              </a:ext>
            </a:extLst>
          </p:cNvPr>
          <p:cNvPicPr>
            <a:picLocks noChangeAspect="1"/>
          </p:cNvPicPr>
          <p:nvPr/>
        </p:nvPicPr>
        <p:blipFill>
          <a:blip r:embed="rId3"/>
          <a:stretch>
            <a:fillRect/>
          </a:stretch>
        </p:blipFill>
        <p:spPr>
          <a:xfrm>
            <a:off x="6280220" y="1296237"/>
            <a:ext cx="5911780" cy="5561763"/>
          </a:xfrm>
          <a:prstGeom prst="rect">
            <a:avLst/>
          </a:prstGeom>
        </p:spPr>
      </p:pic>
    </p:spTree>
    <p:extLst>
      <p:ext uri="{BB962C8B-B14F-4D97-AF65-F5344CB8AC3E}">
        <p14:creationId xmlns:p14="http://schemas.microsoft.com/office/powerpoint/2010/main" val="3192036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0C302-96AE-3FCA-3201-FC13BFCC454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FA320E4-6A95-F392-5356-A342B705F4D4}"/>
              </a:ext>
            </a:extLst>
          </p:cNvPr>
          <p:cNvPicPr>
            <a:picLocks noChangeAspect="1"/>
          </p:cNvPicPr>
          <p:nvPr/>
        </p:nvPicPr>
        <p:blipFill>
          <a:blip r:embed="rId2"/>
          <a:stretch>
            <a:fillRect/>
          </a:stretch>
        </p:blipFill>
        <p:spPr>
          <a:xfrm>
            <a:off x="-3049" y="1"/>
            <a:ext cx="12192000" cy="3225520"/>
          </a:xfrm>
          <a:prstGeom prst="rect">
            <a:avLst/>
          </a:prstGeom>
        </p:spPr>
      </p:pic>
      <p:pic>
        <p:nvPicPr>
          <p:cNvPr id="4" name="Picture 3">
            <a:extLst>
              <a:ext uri="{FF2B5EF4-FFF2-40B4-BE49-F238E27FC236}">
                <a16:creationId xmlns:a16="http://schemas.microsoft.com/office/drawing/2014/main" id="{9F440E95-2675-078A-8045-B28AE168C3DC}"/>
              </a:ext>
            </a:extLst>
          </p:cNvPr>
          <p:cNvPicPr>
            <a:picLocks noChangeAspect="1"/>
          </p:cNvPicPr>
          <p:nvPr/>
        </p:nvPicPr>
        <p:blipFill>
          <a:blip r:embed="rId3"/>
          <a:stretch>
            <a:fillRect/>
          </a:stretch>
        </p:blipFill>
        <p:spPr>
          <a:xfrm>
            <a:off x="0" y="3305908"/>
            <a:ext cx="12192000" cy="3552092"/>
          </a:xfrm>
          <a:prstGeom prst="rect">
            <a:avLst/>
          </a:prstGeom>
        </p:spPr>
      </p:pic>
    </p:spTree>
    <p:extLst>
      <p:ext uri="{BB962C8B-B14F-4D97-AF65-F5344CB8AC3E}">
        <p14:creationId xmlns:p14="http://schemas.microsoft.com/office/powerpoint/2010/main" val="114068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1280160" y="1097280"/>
            <a:ext cx="9821955" cy="914400"/>
          </a:xfrm>
          <a:noFill/>
        </p:spPr>
        <p:txBody>
          <a:bodyPr anchor="t" anchorCtr="0"/>
          <a:lstStyle/>
          <a:p>
            <a:r>
              <a:rPr lang="en-US" dirty="0"/>
              <a:t>Libraries used:</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1368880" y="1833613"/>
            <a:ext cx="9644514" cy="4679482"/>
          </a:xfrm>
          <a:solidFill>
            <a:schemeClr val="accent1">
              <a:lumMod val="20000"/>
              <a:lumOff val="80000"/>
            </a:schemeClr>
          </a:solidFill>
        </p:spPr>
        <p:txBody>
          <a:bodyPr vert="horz" lIns="365760" tIns="365760" rIns="365760" bIns="365760" rtlCol="0" anchor="t">
            <a:noAutofit/>
          </a:bodyPr>
          <a:lstStyle/>
          <a:p>
            <a:pPr>
              <a:lnSpc>
                <a:spcPct val="100000"/>
              </a:lnSpc>
            </a:pPr>
            <a:r>
              <a:rPr lang="en-US" b="1" dirty="0">
                <a:latin typeface="Times New Roman" panose="02020603050405020304" pitchFamily="18" charset="0"/>
                <a:cs typeface="Times New Roman" panose="02020603050405020304" pitchFamily="18" charset="0"/>
              </a:rPr>
              <a:t>NumPy (</a:t>
            </a:r>
            <a:r>
              <a:rPr lang="en-US" b="1" dirty="0" err="1">
                <a:latin typeface="Times New Roman" panose="02020603050405020304" pitchFamily="18" charset="0"/>
                <a:cs typeface="Times New Roman" panose="02020603050405020304" pitchFamily="18" charset="0"/>
              </a:rPr>
              <a:t>numpy</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A fundamental Python library for numerical computing, providing efficient array operations and mathematical functions used for data processing and calculations.</a:t>
            </a:r>
          </a:p>
          <a:p>
            <a:pPr>
              <a:lnSpc>
                <a:spcPct val="100000"/>
              </a:lnSpc>
            </a:pPr>
            <a:r>
              <a:rPr lang="en-US" b="1" dirty="0">
                <a:latin typeface="Times New Roman" panose="02020603050405020304" pitchFamily="18" charset="0"/>
                <a:cs typeface="Times New Roman" panose="02020603050405020304" pitchFamily="18" charset="0"/>
              </a:rPr>
              <a:t>Pandas (pandas)</a:t>
            </a:r>
            <a:r>
              <a:rPr lang="en-US" dirty="0">
                <a:latin typeface="Times New Roman" panose="02020603050405020304" pitchFamily="18" charset="0"/>
                <a:cs typeface="Times New Roman" panose="02020603050405020304" pitchFamily="18" charset="0"/>
              </a:rPr>
              <a:t> – A powerful data manipulation and analysis library offering data structures such as </a:t>
            </a:r>
            <a:r>
              <a:rPr lang="en-US" dirty="0" err="1">
                <a:latin typeface="Times New Roman" panose="02020603050405020304" pitchFamily="18" charset="0"/>
                <a:cs typeface="Times New Roman" panose="02020603050405020304" pitchFamily="18" charset="0"/>
              </a:rPr>
              <a:t>DataFrames</a:t>
            </a:r>
            <a:r>
              <a:rPr lang="en-US" dirty="0">
                <a:latin typeface="Times New Roman" panose="02020603050405020304" pitchFamily="18" charset="0"/>
                <a:cs typeface="Times New Roman" panose="02020603050405020304" pitchFamily="18" charset="0"/>
              </a:rPr>
              <a:t> for cleaning, transforming, and analyzing structured datasets.</a:t>
            </a:r>
          </a:p>
          <a:p>
            <a:pPr>
              <a:lnSpc>
                <a:spcPct val="100000"/>
              </a:lnSpc>
            </a:pPr>
            <a:r>
              <a:rPr lang="en-US" b="1" dirty="0">
                <a:latin typeface="Times New Roman" panose="02020603050405020304" pitchFamily="18" charset="0"/>
                <a:cs typeface="Times New Roman" panose="02020603050405020304" pitchFamily="18" charset="0"/>
              </a:rPr>
              <a:t>Matplotlib (</a:t>
            </a:r>
            <a:r>
              <a:rPr lang="en-US" b="1" dirty="0" err="1">
                <a:latin typeface="Times New Roman" panose="02020603050405020304" pitchFamily="18" charset="0"/>
                <a:cs typeface="Times New Roman" panose="02020603050405020304" pitchFamily="18" charset="0"/>
              </a:rPr>
              <a:t>matplotlib.pyplot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A comprehensive plotting library used to create static, publication-quality visualizations for exploratory data analysis.</a:t>
            </a:r>
          </a:p>
          <a:p>
            <a:pPr>
              <a:lnSpc>
                <a:spcPct val="100000"/>
              </a:lnSpc>
            </a:pPr>
            <a:r>
              <a:rPr lang="en-US" b="1" dirty="0">
                <a:latin typeface="Times New Roman" panose="02020603050405020304" pitchFamily="18" charset="0"/>
                <a:cs typeface="Times New Roman" panose="02020603050405020304" pitchFamily="18" charset="0"/>
              </a:rPr>
              <a:t>Seaborn (seaborn)</a:t>
            </a:r>
            <a:r>
              <a:rPr lang="en-US" dirty="0">
                <a:latin typeface="Times New Roman" panose="02020603050405020304" pitchFamily="18" charset="0"/>
                <a:cs typeface="Times New Roman" panose="02020603050405020304" pitchFamily="18" charset="0"/>
              </a:rPr>
              <a:t> – A high-level statistical visualization library built on Matplotlib, used to generate informative and aesthetically enhanced plots with minimal code.</a:t>
            </a:r>
          </a:p>
          <a:p>
            <a:pPr>
              <a:lnSpc>
                <a:spcPct val="100000"/>
              </a:lnSpc>
            </a:pPr>
            <a:r>
              <a:rPr lang="en-US" b="1" dirty="0" err="1">
                <a:latin typeface="Times New Roman" panose="02020603050405020304" pitchFamily="18" charset="0"/>
                <a:cs typeface="Times New Roman" panose="02020603050405020304" pitchFamily="18" charset="0"/>
              </a:rPr>
              <a:t>Plotly</a:t>
            </a:r>
            <a:r>
              <a:rPr lang="en-US" b="1" dirty="0">
                <a:latin typeface="Times New Roman" panose="02020603050405020304" pitchFamily="18" charset="0"/>
                <a:cs typeface="Times New Roman" panose="02020603050405020304" pitchFamily="18" charset="0"/>
              </a:rPr>
              <a:t> Express (</a:t>
            </a:r>
            <a:r>
              <a:rPr lang="en-US" b="1" dirty="0" err="1">
                <a:latin typeface="Times New Roman" panose="02020603050405020304" pitchFamily="18" charset="0"/>
                <a:cs typeface="Times New Roman" panose="02020603050405020304" pitchFamily="18" charset="0"/>
              </a:rPr>
              <a:t>plotly.express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An interactive visualization library that enables dynamic, web-based plots for deeper data exploration and improved user interaction.</a:t>
            </a:r>
          </a:p>
        </p:txBody>
      </p:sp>
    </p:spTree>
    <p:extLst>
      <p:ext uri="{BB962C8B-B14F-4D97-AF65-F5344CB8AC3E}">
        <p14:creationId xmlns:p14="http://schemas.microsoft.com/office/powerpoint/2010/main" val="837402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9A61-F932-8975-2724-AAB687B80DBF}"/>
              </a:ext>
            </a:extLst>
          </p:cNvPr>
          <p:cNvSpPr>
            <a:spLocks noGrp="1"/>
          </p:cNvSpPr>
          <p:nvPr>
            <p:ph type="title"/>
          </p:nvPr>
        </p:nvSpPr>
        <p:spPr>
          <a:xfrm>
            <a:off x="1280159" y="1273744"/>
            <a:ext cx="9484093" cy="843815"/>
          </a:xfrm>
        </p:spPr>
        <p:txBody>
          <a:bodyPr/>
          <a:lstStyle/>
          <a:p>
            <a:r>
              <a:rPr lang="en-IN" dirty="0"/>
              <a:t>Data Cleaning and Preprocessing</a:t>
            </a:r>
          </a:p>
        </p:txBody>
      </p:sp>
      <p:sp>
        <p:nvSpPr>
          <p:cNvPr id="3" name="Content Placeholder 2">
            <a:extLst>
              <a:ext uri="{FF2B5EF4-FFF2-40B4-BE49-F238E27FC236}">
                <a16:creationId xmlns:a16="http://schemas.microsoft.com/office/drawing/2014/main" id="{2CD25B8F-AFD0-EB7D-636C-E494FF32D6D5}"/>
              </a:ext>
            </a:extLst>
          </p:cNvPr>
          <p:cNvSpPr>
            <a:spLocks noGrp="1"/>
          </p:cNvSpPr>
          <p:nvPr>
            <p:ph idx="1"/>
          </p:nvPr>
        </p:nvSpPr>
        <p:spPr>
          <a:xfrm>
            <a:off x="1001027" y="2204996"/>
            <a:ext cx="10189945" cy="3651183"/>
          </a:xfrm>
        </p:spPr>
        <p:txBody>
          <a:bodyPr>
            <a:normAutofit/>
          </a:bodyPr>
          <a:lstStyle/>
          <a:p>
            <a:pPr marL="0" indent="0">
              <a:buNone/>
            </a:pPr>
            <a:r>
              <a:rPr lang="en-US" b="1" cap="none" dirty="0">
                <a:latin typeface="Times New Roman" panose="02020603050405020304" pitchFamily="18" charset="0"/>
                <a:cs typeface="Times New Roman" panose="02020603050405020304" pitchFamily="18" charset="0"/>
              </a:rPr>
              <a:t>1. Handling missing values</a:t>
            </a:r>
          </a:p>
          <a:p>
            <a:r>
              <a:rPr lang="en-US" sz="2200" cap="none" dirty="0">
                <a:latin typeface="Times New Roman" panose="02020603050405020304" pitchFamily="18" charset="0"/>
                <a:cs typeface="Times New Roman" panose="02020603050405020304" pitchFamily="18" charset="0"/>
              </a:rPr>
              <a:t>Columns with more than 60% missing (null) values were removed from the dataset, as they lacked sufficient information to contribute meaningfully to the analysis.</a:t>
            </a:r>
          </a:p>
          <a:p>
            <a:r>
              <a:rPr lang="en-US" sz="2200" cap="none" dirty="0">
                <a:latin typeface="Times New Roman" panose="02020603050405020304" pitchFamily="18" charset="0"/>
                <a:cs typeface="Times New Roman" panose="02020603050405020304" pitchFamily="18" charset="0"/>
              </a:rPr>
              <a:t>For columns with less than 60% missing values:</a:t>
            </a:r>
          </a:p>
          <a:p>
            <a:pPr lvl="1"/>
            <a:r>
              <a:rPr lang="en-US" sz="2200" cap="none" dirty="0">
                <a:latin typeface="Times New Roman" panose="02020603050405020304" pitchFamily="18" charset="0"/>
                <a:cs typeface="Times New Roman" panose="02020603050405020304" pitchFamily="18" charset="0"/>
              </a:rPr>
              <a:t>Numerical columns were imputed using the mean value, preserving overall data distribution while avoiding data loss.</a:t>
            </a:r>
          </a:p>
          <a:p>
            <a:pPr lvl="1"/>
            <a:r>
              <a:rPr lang="en-US" sz="2200" cap="none" dirty="0">
                <a:latin typeface="Times New Roman" panose="02020603050405020304" pitchFamily="18" charset="0"/>
                <a:cs typeface="Times New Roman" panose="02020603050405020304" pitchFamily="18" charset="0"/>
              </a:rPr>
              <a:t>Categorical columns with two categories were filled with a new category labeled “not defined” to retain records without introducing bias.</a:t>
            </a:r>
          </a:p>
          <a:p>
            <a:endParaRPr lang="en-IN" dirty="0"/>
          </a:p>
        </p:txBody>
      </p:sp>
    </p:spTree>
    <p:extLst>
      <p:ext uri="{BB962C8B-B14F-4D97-AF65-F5344CB8AC3E}">
        <p14:creationId xmlns:p14="http://schemas.microsoft.com/office/powerpoint/2010/main" val="2264833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B0D80-3D3B-F210-AE12-4A884844FE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02A149-37FD-FFB6-5579-3E6DC4FA4596}"/>
              </a:ext>
            </a:extLst>
          </p:cNvPr>
          <p:cNvSpPr>
            <a:spLocks noGrp="1"/>
          </p:cNvSpPr>
          <p:nvPr>
            <p:ph idx="1"/>
          </p:nvPr>
        </p:nvSpPr>
        <p:spPr>
          <a:xfrm>
            <a:off x="1001027" y="1124551"/>
            <a:ext cx="10189945" cy="4939365"/>
          </a:xfrm>
        </p:spPr>
        <p:txBody>
          <a:bodyPr>
            <a:normAutofit fontScale="92500"/>
          </a:bodyPr>
          <a:lstStyle/>
          <a:p>
            <a:pPr marL="0" indent="0">
              <a:buNone/>
            </a:pPr>
            <a:r>
              <a:rPr lang="en-US" b="1" dirty="0">
                <a:latin typeface="Times New Roman" panose="02020603050405020304" pitchFamily="18" charset="0"/>
                <a:cs typeface="Times New Roman" panose="02020603050405020304" pitchFamily="18" charset="0"/>
              </a:rPr>
              <a:t>2</a:t>
            </a:r>
            <a:r>
              <a:rPr lang="en-US" b="1" cap="none" dirty="0">
                <a:latin typeface="Times New Roman" panose="02020603050405020304" pitchFamily="18" charset="0"/>
                <a:cs typeface="Times New Roman" panose="02020603050405020304" pitchFamily="18" charset="0"/>
              </a:rPr>
              <a:t>. Removing redundant and non-informative columns</a:t>
            </a:r>
          </a:p>
          <a:p>
            <a:r>
              <a:rPr lang="en-US" cap="none" dirty="0">
                <a:latin typeface="Times New Roman" panose="02020603050405020304" pitchFamily="18" charset="0"/>
                <a:cs typeface="Times New Roman" panose="02020603050405020304" pitchFamily="18" charset="0"/>
              </a:rPr>
              <a:t>One column containing only zero values across all records was identified and removed, as it provided no analytical value.</a:t>
            </a:r>
          </a:p>
          <a:p>
            <a:r>
              <a:rPr lang="en-US" cap="none" dirty="0">
                <a:latin typeface="Times New Roman" panose="02020603050405020304" pitchFamily="18" charset="0"/>
                <a:cs typeface="Times New Roman" panose="02020603050405020304" pitchFamily="18" charset="0"/>
              </a:rPr>
              <a:t>Additionally, columns that were not relevant to the project’s analytical objectives—such as unused spatial variables, alternative </a:t>
            </a:r>
            <a:r>
              <a:rPr lang="en-US" cap="none" dirty="0" err="1">
                <a:latin typeface="Times New Roman" panose="02020603050405020304" pitchFamily="18" charset="0"/>
                <a:cs typeface="Times New Roman" panose="02020603050405020304" pitchFamily="18" charset="0"/>
              </a:rPr>
              <a:t>aqi</a:t>
            </a:r>
            <a:r>
              <a:rPr lang="en-US" cap="none" dirty="0">
                <a:latin typeface="Times New Roman" panose="02020603050405020304" pitchFamily="18" charset="0"/>
                <a:cs typeface="Times New Roman" panose="02020603050405020304" pitchFamily="18" charset="0"/>
              </a:rPr>
              <a:t> systems, and unused meteorological parameters—were dropped to reduce dimensionality and improve clarity.</a:t>
            </a:r>
          </a:p>
          <a:p>
            <a:pPr marL="0" indent="0">
              <a:buNone/>
            </a:pPr>
            <a:r>
              <a:rPr lang="en-US" b="1" cap="none" dirty="0">
                <a:latin typeface="Times New Roman" panose="02020603050405020304" pitchFamily="18" charset="0"/>
                <a:cs typeface="Times New Roman" panose="02020603050405020304" pitchFamily="18" charset="0"/>
              </a:rPr>
              <a:t>3. Final dataset optimization</a:t>
            </a:r>
          </a:p>
          <a:p>
            <a:r>
              <a:rPr lang="en-US" cap="none" dirty="0">
                <a:latin typeface="Times New Roman" panose="02020603050405020304" pitchFamily="18" charset="0"/>
                <a:cs typeface="Times New Roman" panose="02020603050405020304" pitchFamily="18" charset="0"/>
              </a:rPr>
              <a:t>After cleaning, the dataset contained only:</a:t>
            </a:r>
          </a:p>
          <a:p>
            <a:r>
              <a:rPr lang="en-US" cap="none" dirty="0">
                <a:latin typeface="Times New Roman" panose="02020603050405020304" pitchFamily="18" charset="0"/>
                <a:cs typeface="Times New Roman" panose="02020603050405020304" pitchFamily="18" charset="0"/>
              </a:rPr>
              <a:t>Relevant temporal, meteorological, and pollution-related variables</a:t>
            </a:r>
          </a:p>
          <a:p>
            <a:r>
              <a:rPr lang="en-US" cap="none" dirty="0">
                <a:latin typeface="Times New Roman" panose="02020603050405020304" pitchFamily="18" charset="0"/>
                <a:cs typeface="Times New Roman" panose="02020603050405020304" pitchFamily="18" charset="0"/>
              </a:rPr>
              <a:t>Columns directly supporting PM2.5, AQI, seasonal, risk-based, and event-driven analysis</a:t>
            </a:r>
          </a:p>
          <a:p>
            <a:pPr marL="0" indent="0">
              <a:buNone/>
            </a:pPr>
            <a:endParaRPr lang="en-IN" dirty="0"/>
          </a:p>
        </p:txBody>
      </p:sp>
    </p:spTree>
    <p:extLst>
      <p:ext uri="{BB962C8B-B14F-4D97-AF65-F5344CB8AC3E}">
        <p14:creationId xmlns:p14="http://schemas.microsoft.com/office/powerpoint/2010/main" val="3544283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1801E-1FEA-4FFB-C1F9-C1FC55D2EAC9}"/>
              </a:ext>
            </a:extLst>
          </p:cNvPr>
          <p:cNvSpPr>
            <a:spLocks noGrp="1"/>
          </p:cNvSpPr>
          <p:nvPr>
            <p:ph type="title"/>
          </p:nvPr>
        </p:nvSpPr>
        <p:spPr>
          <a:xfrm>
            <a:off x="1280159" y="1097280"/>
            <a:ext cx="7441809" cy="771713"/>
          </a:xfrm>
        </p:spPr>
        <p:txBody>
          <a:bodyPr/>
          <a:lstStyle/>
          <a:p>
            <a:r>
              <a:rPr lang="en-IN" dirty="0"/>
              <a:t>Graphs from the project</a:t>
            </a:r>
          </a:p>
        </p:txBody>
      </p:sp>
      <p:pic>
        <p:nvPicPr>
          <p:cNvPr id="6" name="Picture 5">
            <a:extLst>
              <a:ext uri="{FF2B5EF4-FFF2-40B4-BE49-F238E27FC236}">
                <a16:creationId xmlns:a16="http://schemas.microsoft.com/office/drawing/2014/main" id="{8C5DD166-C5DE-1DD5-B3B5-1DA0F17A4225}"/>
              </a:ext>
            </a:extLst>
          </p:cNvPr>
          <p:cNvPicPr>
            <a:picLocks noChangeAspect="1"/>
          </p:cNvPicPr>
          <p:nvPr/>
        </p:nvPicPr>
        <p:blipFill>
          <a:blip r:embed="rId2"/>
          <a:stretch>
            <a:fillRect/>
          </a:stretch>
        </p:blipFill>
        <p:spPr>
          <a:xfrm>
            <a:off x="1280159" y="1958270"/>
            <a:ext cx="9344967" cy="3423781"/>
          </a:xfrm>
          <a:prstGeom prst="rect">
            <a:avLst/>
          </a:prstGeom>
        </p:spPr>
      </p:pic>
    </p:spTree>
    <p:extLst>
      <p:ext uri="{BB962C8B-B14F-4D97-AF65-F5344CB8AC3E}">
        <p14:creationId xmlns:p14="http://schemas.microsoft.com/office/powerpoint/2010/main" val="3864444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6E35B-7161-525F-7CC7-F6AFE42C8AA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288D97C-A89C-BA56-CB1F-B78441F4D7CD}"/>
              </a:ext>
            </a:extLst>
          </p:cNvPr>
          <p:cNvPicPr>
            <a:picLocks noChangeAspect="1"/>
          </p:cNvPicPr>
          <p:nvPr/>
        </p:nvPicPr>
        <p:blipFill>
          <a:blip r:embed="rId2"/>
          <a:stretch>
            <a:fillRect/>
          </a:stretch>
        </p:blipFill>
        <p:spPr>
          <a:xfrm>
            <a:off x="567078" y="1321309"/>
            <a:ext cx="5009757" cy="4628733"/>
          </a:xfrm>
          <a:prstGeom prst="rect">
            <a:avLst/>
          </a:prstGeom>
        </p:spPr>
      </p:pic>
      <p:pic>
        <p:nvPicPr>
          <p:cNvPr id="9" name="Picture 8">
            <a:extLst>
              <a:ext uri="{FF2B5EF4-FFF2-40B4-BE49-F238E27FC236}">
                <a16:creationId xmlns:a16="http://schemas.microsoft.com/office/drawing/2014/main" id="{00AE7681-DC3B-5AC4-3A7B-2C49B98C3ABD}"/>
              </a:ext>
            </a:extLst>
          </p:cNvPr>
          <p:cNvPicPr>
            <a:picLocks noChangeAspect="1"/>
          </p:cNvPicPr>
          <p:nvPr/>
        </p:nvPicPr>
        <p:blipFill>
          <a:blip r:embed="rId3"/>
          <a:stretch>
            <a:fillRect/>
          </a:stretch>
        </p:blipFill>
        <p:spPr>
          <a:xfrm>
            <a:off x="5880229" y="1210777"/>
            <a:ext cx="5395428" cy="4267570"/>
          </a:xfrm>
          <a:prstGeom prst="rect">
            <a:avLst/>
          </a:prstGeom>
        </p:spPr>
      </p:pic>
    </p:spTree>
    <p:extLst>
      <p:ext uri="{BB962C8B-B14F-4D97-AF65-F5344CB8AC3E}">
        <p14:creationId xmlns:p14="http://schemas.microsoft.com/office/powerpoint/2010/main" val="89281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15A7B-3D91-0468-EDCD-495198E1A76C}"/>
              </a:ext>
            </a:extLst>
          </p:cNvPr>
          <p:cNvSpPr>
            <a:spLocks noGrp="1"/>
          </p:cNvSpPr>
          <p:nvPr>
            <p:ph type="title"/>
          </p:nvPr>
        </p:nvSpPr>
        <p:spPr>
          <a:xfrm>
            <a:off x="1280159" y="1097280"/>
            <a:ext cx="9853061" cy="1404760"/>
          </a:xfrm>
        </p:spPr>
        <p:txBody>
          <a:bodyPr/>
          <a:lstStyle/>
          <a:p>
            <a:pPr algn="ctr"/>
            <a:r>
              <a:rPr lang="en-US" b="1" dirty="0"/>
              <a:t>Overall Insights of the Whole Project</a:t>
            </a:r>
          </a:p>
        </p:txBody>
      </p:sp>
      <p:sp>
        <p:nvSpPr>
          <p:cNvPr id="3" name="Content Placeholder 2">
            <a:extLst>
              <a:ext uri="{FF2B5EF4-FFF2-40B4-BE49-F238E27FC236}">
                <a16:creationId xmlns:a16="http://schemas.microsoft.com/office/drawing/2014/main" id="{5253DC97-A191-EF8A-37B3-F67ABFBB6ADD}"/>
              </a:ext>
            </a:extLst>
          </p:cNvPr>
          <p:cNvSpPr>
            <a:spLocks noGrp="1"/>
          </p:cNvSpPr>
          <p:nvPr>
            <p:ph idx="1"/>
          </p:nvPr>
        </p:nvSpPr>
        <p:spPr>
          <a:xfrm>
            <a:off x="413886" y="2502040"/>
            <a:ext cx="5682114" cy="2918292"/>
          </a:xfrm>
        </p:spPr>
        <p:txBody>
          <a:bodyPr>
            <a:normAutofit fontScale="92500" lnSpcReduction="20000"/>
          </a:bodyPr>
          <a:lstStyle/>
          <a:p>
            <a:pPr marL="0" indent="0">
              <a:buNone/>
            </a:pPr>
            <a:r>
              <a:rPr lang="en-US" b="1" cap="none" dirty="0">
                <a:latin typeface="Times New Roman" panose="02020603050405020304" pitchFamily="18" charset="0"/>
                <a:cs typeface="Times New Roman" panose="02020603050405020304" pitchFamily="18" charset="0"/>
              </a:rPr>
              <a:t>1. Pm2.5 temporal variation</a:t>
            </a:r>
          </a:p>
          <a:p>
            <a:r>
              <a:rPr lang="en-US" cap="none" dirty="0">
                <a:latin typeface="Times New Roman" panose="02020603050405020304" pitchFamily="18" charset="0"/>
                <a:cs typeface="Times New Roman" panose="02020603050405020304" pitchFamily="18" charset="0"/>
              </a:rPr>
              <a:t>Pm2.5 levels show clear hourly, daily, and seasonal patterns.</a:t>
            </a:r>
          </a:p>
          <a:p>
            <a:r>
              <a:rPr lang="en-US" cap="none" dirty="0">
                <a:latin typeface="Times New Roman" panose="02020603050405020304" pitchFamily="18" charset="0"/>
                <a:cs typeface="Times New Roman" panose="02020603050405020304" pitchFamily="18" charset="0"/>
              </a:rPr>
              <a:t>Higher concentrations are observed during winter months, likely due to temperature inversion and reduced dispersion.</a:t>
            </a:r>
          </a:p>
          <a:p>
            <a:r>
              <a:rPr lang="en-US" cap="none" dirty="0">
                <a:latin typeface="Times New Roman" panose="02020603050405020304" pitchFamily="18" charset="0"/>
                <a:cs typeface="Times New Roman" panose="02020603050405020304" pitchFamily="18" charset="0"/>
              </a:rPr>
              <a:t>Night-time and early morning hours often exhibit higher pm2.5 levels.</a:t>
            </a:r>
          </a:p>
          <a:p>
            <a:endParaRPr lang="en-IN" dirty="0"/>
          </a:p>
        </p:txBody>
      </p:sp>
      <p:sp>
        <p:nvSpPr>
          <p:cNvPr id="5" name="Content Placeholder 2">
            <a:extLst>
              <a:ext uri="{FF2B5EF4-FFF2-40B4-BE49-F238E27FC236}">
                <a16:creationId xmlns:a16="http://schemas.microsoft.com/office/drawing/2014/main" id="{951FEDBA-1ABE-B1F6-2C29-BA2F5D77B265}"/>
              </a:ext>
            </a:extLst>
          </p:cNvPr>
          <p:cNvSpPr txBox="1">
            <a:spLocks/>
          </p:cNvSpPr>
          <p:nvPr/>
        </p:nvSpPr>
        <p:spPr>
          <a:xfrm>
            <a:off x="5915287" y="2383399"/>
            <a:ext cx="5682114" cy="2886208"/>
          </a:xfrm>
          <a:prstGeom prst="rect">
            <a:avLst/>
          </a:prstGeom>
        </p:spPr>
        <p:txBody>
          <a:bodyPr vert="horz" lIns="0" tIns="0" rIns="0" bIns="0" rtlCol="0">
            <a:normAutofit lnSpcReduction="10000"/>
          </a:bodyPr>
          <a:lstStyle>
            <a:lvl1pPr marL="457200" indent="-457200" algn="l" defTabSz="914400" rtl="0" eaLnBrk="1" latinLnBrk="0" hangingPunct="1">
              <a:lnSpc>
                <a:spcPct val="100000"/>
              </a:lnSpc>
              <a:spcBef>
                <a:spcPts val="1400"/>
              </a:spcBef>
              <a:buClr>
                <a:schemeClr val="accent1"/>
              </a:buClr>
              <a:buFont typeface="Courier New" panose="02070309020205020404" pitchFamily="49" charset="0"/>
              <a:buChar char="o"/>
              <a:defRPr sz="2400" b="0" i="0" kern="1200" cap="all" spc="0" baseline="0">
                <a:solidFill>
                  <a:schemeClr val="tx1"/>
                </a:solidFill>
                <a:latin typeface="+mn-lt"/>
                <a:ea typeface="+mn-ea"/>
                <a:cs typeface="+mn-cs"/>
              </a:defRPr>
            </a:lvl1pPr>
            <a:lvl2pPr marL="9144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spc="0" baseline="0">
                <a:solidFill>
                  <a:schemeClr val="tx1"/>
                </a:solidFill>
                <a:latin typeface="+mn-lt"/>
                <a:ea typeface="+mn-ea"/>
                <a:cs typeface="+mn-cs"/>
              </a:defRPr>
            </a:lvl2pPr>
            <a:lvl3pPr marL="13716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spc="0" baseline="0">
                <a:solidFill>
                  <a:schemeClr val="tx1"/>
                </a:solidFill>
                <a:latin typeface="+mn-lt"/>
                <a:ea typeface="+mn-ea"/>
                <a:cs typeface="+mn-cs"/>
              </a:defRPr>
            </a:lvl3pPr>
            <a:lvl4pPr marL="18288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spc="0" baseline="0">
                <a:solidFill>
                  <a:schemeClr val="tx1"/>
                </a:solidFill>
                <a:latin typeface="+mn-lt"/>
                <a:ea typeface="+mn-ea"/>
                <a:cs typeface="+mn-cs"/>
              </a:defRPr>
            </a:lvl4pPr>
            <a:lvl5pPr marL="2286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cap="none" dirty="0">
                <a:latin typeface="Times New Roman" panose="02020603050405020304" pitchFamily="18" charset="0"/>
                <a:cs typeface="Times New Roman" panose="02020603050405020304" pitchFamily="18" charset="0"/>
              </a:rPr>
              <a:t>2. Cities with worst PM2.5 impact</a:t>
            </a:r>
          </a:p>
          <a:p>
            <a:r>
              <a:rPr lang="en-US" cap="none" dirty="0">
                <a:latin typeface="Times New Roman" panose="02020603050405020304" pitchFamily="18" charset="0"/>
                <a:cs typeface="Times New Roman" panose="02020603050405020304" pitchFamily="18" charset="0"/>
              </a:rPr>
              <a:t>Major metropolitan and industrial cities contribute the most to poor AQI levels.</a:t>
            </a:r>
          </a:p>
          <a:p>
            <a:r>
              <a:rPr lang="en-US" cap="none" dirty="0">
                <a:latin typeface="Times New Roman" panose="02020603050405020304" pitchFamily="18" charset="0"/>
                <a:cs typeface="Times New Roman" panose="02020603050405020304" pitchFamily="18" charset="0"/>
              </a:rPr>
              <a:t>Urbanization, traffic density, construction, and industrial activity are key drivers.</a:t>
            </a:r>
          </a:p>
          <a:p>
            <a:r>
              <a:rPr lang="en-US" cap="none" dirty="0">
                <a:latin typeface="Times New Roman" panose="02020603050405020304" pitchFamily="18" charset="0"/>
                <a:cs typeface="Times New Roman" panose="02020603050405020304" pitchFamily="18" charset="0"/>
              </a:rPr>
              <a:t>These cities repeatedly appear in the highest </a:t>
            </a:r>
            <a:r>
              <a:rPr lang="en-US" cap="none" dirty="0" err="1">
                <a:latin typeface="Times New Roman" panose="02020603050405020304" pitchFamily="18" charset="0"/>
                <a:cs typeface="Times New Roman" panose="02020603050405020304" pitchFamily="18" charset="0"/>
              </a:rPr>
              <a:t>aqi</a:t>
            </a:r>
            <a:r>
              <a:rPr lang="en-US" cap="none" dirty="0">
                <a:latin typeface="Times New Roman" panose="02020603050405020304" pitchFamily="18" charset="0"/>
                <a:cs typeface="Times New Roman" panose="02020603050405020304" pitchFamily="18" charset="0"/>
              </a:rPr>
              <a:t> and pm2.5 rankings.</a:t>
            </a:r>
          </a:p>
          <a:p>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2483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295E6-4F15-3AB9-1200-E9C4E646E9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B472B2-991C-2863-B29C-00655A867D5F}"/>
              </a:ext>
            </a:extLst>
          </p:cNvPr>
          <p:cNvSpPr>
            <a:spLocks noGrp="1"/>
          </p:cNvSpPr>
          <p:nvPr>
            <p:ph idx="1"/>
          </p:nvPr>
        </p:nvSpPr>
        <p:spPr>
          <a:xfrm>
            <a:off x="413886" y="1635198"/>
            <a:ext cx="5682114" cy="3790912"/>
          </a:xfrm>
        </p:spPr>
        <p:txBody>
          <a:bodyPr>
            <a:normAutofit/>
          </a:bodyPr>
          <a:lstStyle/>
          <a:p>
            <a:pPr marL="0" indent="0">
              <a:buNone/>
            </a:pPr>
            <a:r>
              <a:rPr lang="en-US" b="1" cap="none" dirty="0">
                <a:latin typeface="Times New Roman" panose="02020603050405020304" pitchFamily="18" charset="0"/>
                <a:cs typeface="Times New Roman" panose="02020603050405020304" pitchFamily="18" charset="0"/>
              </a:rPr>
              <a:t>3. Strongest pollutant predictor of AQI</a:t>
            </a:r>
          </a:p>
          <a:p>
            <a:r>
              <a:rPr lang="en-US" cap="none" dirty="0">
                <a:latin typeface="Times New Roman" panose="02020603050405020304" pitchFamily="18" charset="0"/>
                <a:cs typeface="Times New Roman" panose="02020603050405020304" pitchFamily="18" charset="0"/>
              </a:rPr>
              <a:t>Pm2.5 emerges as the strongest and most consistent predictor of AQI.</a:t>
            </a:r>
          </a:p>
          <a:p>
            <a:r>
              <a:rPr lang="en-US" cap="none" dirty="0">
                <a:latin typeface="Times New Roman" panose="02020603050405020304" pitchFamily="18" charset="0"/>
                <a:cs typeface="Times New Roman" panose="02020603050405020304" pitchFamily="18" charset="0"/>
              </a:rPr>
              <a:t>Other pollutants (pm10, no₂, so₂, co) influence </a:t>
            </a:r>
            <a:r>
              <a:rPr lang="en-US" cap="none" dirty="0" err="1">
                <a:latin typeface="Times New Roman" panose="02020603050405020304" pitchFamily="18" charset="0"/>
                <a:cs typeface="Times New Roman" panose="02020603050405020304" pitchFamily="18" charset="0"/>
              </a:rPr>
              <a:t>aqi</a:t>
            </a:r>
            <a:r>
              <a:rPr lang="en-US" cap="none" dirty="0">
                <a:latin typeface="Times New Roman" panose="02020603050405020304" pitchFamily="18" charset="0"/>
                <a:cs typeface="Times New Roman" panose="02020603050405020304" pitchFamily="18" charset="0"/>
              </a:rPr>
              <a:t> but with comparatively lower impact.</a:t>
            </a:r>
          </a:p>
          <a:p>
            <a:r>
              <a:rPr lang="en-US" cap="none" dirty="0">
                <a:latin typeface="Times New Roman" panose="02020603050405020304" pitchFamily="18" charset="0"/>
                <a:cs typeface="Times New Roman" panose="02020603050405020304" pitchFamily="18" charset="0"/>
              </a:rPr>
              <a:t>This confirms pm2.5 as the dominant pollutant shaping air quality in </a:t>
            </a:r>
            <a:r>
              <a:rPr lang="en-US" cap="none" dirty="0" err="1">
                <a:latin typeface="Times New Roman" panose="02020603050405020304" pitchFamily="18" charset="0"/>
                <a:cs typeface="Times New Roman" panose="02020603050405020304" pitchFamily="18" charset="0"/>
              </a:rPr>
              <a:t>india</a:t>
            </a:r>
            <a:r>
              <a:rPr lang="en-US" cap="none" dirty="0">
                <a:latin typeface="Times New Roman" panose="02020603050405020304" pitchFamily="18" charset="0"/>
                <a:cs typeface="Times New Roman" panose="02020603050405020304" pitchFamily="18" charset="0"/>
              </a:rPr>
              <a:t>.</a:t>
            </a:r>
          </a:p>
          <a:p>
            <a:endParaRPr lang="en-IN" cap="none"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4F0A10CD-E877-B27B-61A3-FE1A55A409AE}"/>
              </a:ext>
            </a:extLst>
          </p:cNvPr>
          <p:cNvSpPr txBox="1">
            <a:spLocks/>
          </p:cNvSpPr>
          <p:nvPr/>
        </p:nvSpPr>
        <p:spPr>
          <a:xfrm>
            <a:off x="6096000" y="1635198"/>
            <a:ext cx="5682114" cy="3449268"/>
          </a:xfrm>
          <a:prstGeom prst="rect">
            <a:avLst/>
          </a:prstGeom>
        </p:spPr>
        <p:txBody>
          <a:bodyPr vert="horz" lIns="0" tIns="0" rIns="0" bIns="0" rtlCol="0">
            <a:normAutofit lnSpcReduction="10000"/>
          </a:bodyPr>
          <a:lstStyle>
            <a:lvl1pPr marL="457200" indent="-457200" algn="l" defTabSz="914400" rtl="0" eaLnBrk="1" latinLnBrk="0" hangingPunct="1">
              <a:lnSpc>
                <a:spcPct val="100000"/>
              </a:lnSpc>
              <a:spcBef>
                <a:spcPts val="1400"/>
              </a:spcBef>
              <a:buClr>
                <a:schemeClr val="accent1"/>
              </a:buClr>
              <a:buFont typeface="Courier New" panose="02070309020205020404" pitchFamily="49" charset="0"/>
              <a:buChar char="o"/>
              <a:defRPr sz="2400" b="0" i="0" kern="1200" cap="all" spc="0" baseline="0">
                <a:solidFill>
                  <a:schemeClr val="tx1"/>
                </a:solidFill>
                <a:latin typeface="+mn-lt"/>
                <a:ea typeface="+mn-ea"/>
                <a:cs typeface="+mn-cs"/>
              </a:defRPr>
            </a:lvl1pPr>
            <a:lvl2pPr marL="9144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spc="0" baseline="0">
                <a:solidFill>
                  <a:schemeClr val="tx1"/>
                </a:solidFill>
                <a:latin typeface="+mn-lt"/>
                <a:ea typeface="+mn-ea"/>
                <a:cs typeface="+mn-cs"/>
              </a:defRPr>
            </a:lvl2pPr>
            <a:lvl3pPr marL="13716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spc="0" baseline="0">
                <a:solidFill>
                  <a:schemeClr val="tx1"/>
                </a:solidFill>
                <a:latin typeface="+mn-lt"/>
                <a:ea typeface="+mn-ea"/>
                <a:cs typeface="+mn-cs"/>
              </a:defRPr>
            </a:lvl3pPr>
            <a:lvl4pPr marL="18288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spc="0" baseline="0">
                <a:solidFill>
                  <a:schemeClr val="tx1"/>
                </a:solidFill>
                <a:latin typeface="+mn-lt"/>
                <a:ea typeface="+mn-ea"/>
                <a:cs typeface="+mn-cs"/>
              </a:defRPr>
            </a:lvl4pPr>
            <a:lvl5pPr marL="2286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cap="none" dirty="0">
                <a:latin typeface="Times New Roman" panose="02020603050405020304" pitchFamily="18" charset="0"/>
                <a:cs typeface="Times New Roman" panose="02020603050405020304" pitchFamily="18" charset="0"/>
              </a:rPr>
              <a:t>4. Effect of wind speed on PM2.5</a:t>
            </a:r>
          </a:p>
          <a:p>
            <a:r>
              <a:rPr lang="en-US" cap="none" dirty="0">
                <a:latin typeface="Times New Roman" panose="02020603050405020304" pitchFamily="18" charset="0"/>
                <a:cs typeface="Times New Roman" panose="02020603050405020304" pitchFamily="18" charset="0"/>
              </a:rPr>
              <a:t>An inverse relationship is observed between wind speed and PM2.5 concentration.</a:t>
            </a:r>
          </a:p>
          <a:p>
            <a:r>
              <a:rPr lang="en-US" cap="none" dirty="0">
                <a:latin typeface="Times New Roman" panose="02020603050405020304" pitchFamily="18" charset="0"/>
                <a:cs typeface="Times New Roman" panose="02020603050405020304" pitchFamily="18" charset="0"/>
              </a:rPr>
              <a:t>Higher wind speeds help disperse pollutants, reducing pm2.5 accumulation.</a:t>
            </a:r>
          </a:p>
          <a:p>
            <a:r>
              <a:rPr lang="en-US" cap="none" dirty="0">
                <a:latin typeface="Times New Roman" panose="02020603050405020304" pitchFamily="18" charset="0"/>
                <a:cs typeface="Times New Roman" panose="02020603050405020304" pitchFamily="18" charset="0"/>
              </a:rPr>
              <a:t>Low wind conditions are associated with severe pollution episodes.</a:t>
            </a:r>
          </a:p>
          <a:p>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8243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5261A-1ABA-9988-752B-940A346C04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61AD9A-9E81-EDF7-348F-5F65AC30B17E}"/>
              </a:ext>
            </a:extLst>
          </p:cNvPr>
          <p:cNvSpPr>
            <a:spLocks noGrp="1"/>
          </p:cNvSpPr>
          <p:nvPr>
            <p:ph idx="1"/>
          </p:nvPr>
        </p:nvSpPr>
        <p:spPr>
          <a:xfrm>
            <a:off x="1848896" y="1484472"/>
            <a:ext cx="8601389" cy="3991879"/>
          </a:xfrm>
        </p:spPr>
        <p:txBody>
          <a:bodyPr>
            <a:normAutofit/>
          </a:bodyPr>
          <a:lstStyle/>
          <a:p>
            <a:pPr marL="0" indent="0">
              <a:buNone/>
            </a:pPr>
            <a:r>
              <a:rPr lang="en-US" b="1" cap="none" dirty="0">
                <a:latin typeface="Times New Roman" panose="02020603050405020304" pitchFamily="18" charset="0"/>
                <a:cs typeface="Times New Roman" panose="02020603050405020304" pitchFamily="18" charset="0"/>
              </a:rPr>
              <a:t>5. Who pm2.5 limit exceedance</a:t>
            </a:r>
          </a:p>
          <a:p>
            <a:r>
              <a:rPr lang="en-US" cap="none" dirty="0">
                <a:latin typeface="Times New Roman" panose="02020603050405020304" pitchFamily="18" charset="0"/>
                <a:cs typeface="Times New Roman" panose="02020603050405020304" pitchFamily="18" charset="0"/>
              </a:rPr>
              <a:t>A significant number of days exceed the who-recommended PM2.5 limit (15 µg/m³).</a:t>
            </a:r>
          </a:p>
          <a:p>
            <a:r>
              <a:rPr lang="en-US" cap="none" dirty="0">
                <a:latin typeface="Times New Roman" panose="02020603050405020304" pitchFamily="18" charset="0"/>
                <a:cs typeface="Times New Roman" panose="02020603050405020304" pitchFamily="18" charset="0"/>
              </a:rPr>
              <a:t>This indicates chronic air pollution and long-term health risks for the population.</a:t>
            </a:r>
          </a:p>
          <a:p>
            <a:r>
              <a:rPr lang="en-US" cap="none" dirty="0">
                <a:latin typeface="Times New Roman" panose="02020603050405020304" pitchFamily="18" charset="0"/>
                <a:cs typeface="Times New Roman" panose="02020603050405020304" pitchFamily="18" charset="0"/>
              </a:rPr>
              <a:t>Many regions remain above safe limits for most of the year</a:t>
            </a:r>
            <a:r>
              <a:rPr lang="en-US" dirty="0"/>
              <a:t>.</a:t>
            </a:r>
          </a:p>
          <a:p>
            <a:endParaRPr lang="en-IN" dirty="0"/>
          </a:p>
        </p:txBody>
      </p:sp>
    </p:spTree>
    <p:extLst>
      <p:ext uri="{BB962C8B-B14F-4D97-AF65-F5344CB8AC3E}">
        <p14:creationId xmlns:p14="http://schemas.microsoft.com/office/powerpoint/2010/main" val="658596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66355-243F-A56E-477A-CDBB91A99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79675-0245-F0EF-2E95-3661FD19C082}"/>
              </a:ext>
            </a:extLst>
          </p:cNvPr>
          <p:cNvSpPr>
            <a:spLocks noGrp="1"/>
          </p:cNvSpPr>
          <p:nvPr>
            <p:ph type="title"/>
          </p:nvPr>
        </p:nvSpPr>
        <p:spPr>
          <a:xfrm>
            <a:off x="1280159" y="1097280"/>
            <a:ext cx="9853061" cy="641085"/>
          </a:xfrm>
        </p:spPr>
        <p:txBody>
          <a:bodyPr/>
          <a:lstStyle/>
          <a:p>
            <a:pPr algn="ctr"/>
            <a:r>
              <a:rPr lang="en-US" b="1" dirty="0"/>
              <a:t>Future scope</a:t>
            </a:r>
          </a:p>
        </p:txBody>
      </p:sp>
      <p:sp>
        <p:nvSpPr>
          <p:cNvPr id="5" name="Rectangle 1">
            <a:extLst>
              <a:ext uri="{FF2B5EF4-FFF2-40B4-BE49-F238E27FC236}">
                <a16:creationId xmlns:a16="http://schemas.microsoft.com/office/drawing/2014/main" id="{B8027A2C-5197-8F81-59A9-C2EC20A3312F}"/>
              </a:ext>
            </a:extLst>
          </p:cNvPr>
          <p:cNvSpPr>
            <a:spLocks noGrp="1" noChangeArrowheads="1"/>
          </p:cNvSpPr>
          <p:nvPr>
            <p:ph idx="1"/>
          </p:nvPr>
        </p:nvSpPr>
        <p:spPr bwMode="auto">
          <a:xfrm>
            <a:off x="1504060" y="2344400"/>
            <a:ext cx="837346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impact analysis</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modeling</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sz="3600" b="1" cap="none" dirty="0">
                <a:latin typeface="Times New Roman" panose="02020603050405020304" pitchFamily="18" charset="0"/>
                <a:cs typeface="Times New Roman" panose="02020603050405020304" pitchFamily="18" charset="0"/>
              </a:rPr>
              <a:t>Source apportionment</a:t>
            </a:r>
          </a:p>
          <a:p>
            <a:pPr eaLnBrk="0" fontAlgn="base" hangingPunct="0">
              <a:spcBef>
                <a:spcPct val="0"/>
              </a:spcBef>
              <a:spcAft>
                <a:spcPct val="0"/>
              </a:spcAft>
              <a:buClrTx/>
              <a:buFont typeface="Arial" panose="020B0604020202020204" pitchFamily="34" charset="0"/>
              <a:buChar char="•"/>
            </a:pPr>
            <a:r>
              <a:rPr lang="en-US" sz="3600" b="1" cap="none" dirty="0">
                <a:latin typeface="Times New Roman" panose="02020603050405020304" pitchFamily="18" charset="0"/>
                <a:cs typeface="Times New Roman" panose="02020603050405020304" pitchFamily="18" charset="0"/>
              </a:rPr>
              <a:t>Traffic density &amp; mobility pattern analysis</a:t>
            </a:r>
          </a:p>
          <a:p>
            <a:pPr marL="0" marR="0" lvl="0" indent="0" algn="l" defTabSz="914400" rtl="0" eaLnBrk="0" fontAlgn="base" latinLnBrk="0" hangingPunct="0">
              <a:lnSpc>
                <a:spcPct val="100000"/>
              </a:lnSpc>
              <a:spcBef>
                <a:spcPct val="0"/>
              </a:spcBef>
              <a:spcAft>
                <a:spcPct val="0"/>
              </a:spcAft>
              <a:buClrTx/>
              <a:buSzTx/>
              <a:buNone/>
              <a:tabLst/>
            </a:pPr>
            <a:endParaRPr lang="en-IN" sz="1800" cap="none"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838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9833C-3C07-653C-648F-C575ADBE7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3510E-2C90-7799-861D-E0B7A1365768}"/>
              </a:ext>
            </a:extLst>
          </p:cNvPr>
          <p:cNvSpPr>
            <a:spLocks noGrp="1"/>
          </p:cNvSpPr>
          <p:nvPr>
            <p:ph type="title"/>
          </p:nvPr>
        </p:nvSpPr>
        <p:spPr>
          <a:xfrm>
            <a:off x="1280159" y="1097280"/>
            <a:ext cx="9853061" cy="641085"/>
          </a:xfrm>
        </p:spPr>
        <p:txBody>
          <a:bodyPr/>
          <a:lstStyle/>
          <a:p>
            <a:pPr algn="ctr"/>
            <a:r>
              <a:rPr lang="en-US" b="1" dirty="0"/>
              <a:t>CONCLUSION</a:t>
            </a:r>
          </a:p>
        </p:txBody>
      </p:sp>
      <p:sp>
        <p:nvSpPr>
          <p:cNvPr id="5" name="Rectangle 1">
            <a:extLst>
              <a:ext uri="{FF2B5EF4-FFF2-40B4-BE49-F238E27FC236}">
                <a16:creationId xmlns:a16="http://schemas.microsoft.com/office/drawing/2014/main" id="{611DF9DC-7D20-4D02-E59C-B395F63757F9}"/>
              </a:ext>
            </a:extLst>
          </p:cNvPr>
          <p:cNvSpPr>
            <a:spLocks noGrp="1" noChangeArrowheads="1"/>
          </p:cNvSpPr>
          <p:nvPr>
            <p:ph idx="1"/>
          </p:nvPr>
        </p:nvSpPr>
        <p:spPr bwMode="auto">
          <a:xfrm>
            <a:off x="1909265" y="2159734"/>
            <a:ext cx="914392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None/>
            </a:pPr>
            <a:r>
              <a:rPr lang="en-US" cap="none" dirty="0">
                <a:latin typeface="Times New Roman" panose="02020603050405020304" pitchFamily="18" charset="0"/>
                <a:cs typeface="Times New Roman" panose="02020603050405020304" pitchFamily="18" charset="0"/>
              </a:rPr>
              <a:t>This project provides a comprehensive and data-driven understanding of air quality in India, with PM2.5 identified as the most critical pollutant influencing AQI. The analysis highlights severe and persistent air pollution across major cities, strong seasonal patterns, and frequent violations of WHO safety limits. Meteorological factors such as wind speed play a significant role in pollutant dispersion. Overall, the findings emphasize the urgent need for targeted pollution control measures, predictive systems, and public health interventions to improve air quality and protect human health in </a:t>
            </a:r>
            <a:r>
              <a:rPr lang="en-US" cap="none" dirty="0" err="1">
                <a:latin typeface="Times New Roman" panose="02020603050405020304" pitchFamily="18" charset="0"/>
                <a:cs typeface="Times New Roman" panose="02020603050405020304" pitchFamily="18" charset="0"/>
              </a:rPr>
              <a:t>india</a:t>
            </a:r>
            <a:r>
              <a:rPr lang="en-US" cap="none" dirty="0">
                <a:latin typeface="Times New Roman" panose="02020603050405020304" pitchFamily="18" charset="0"/>
                <a:cs typeface="Times New Roman" panose="02020603050405020304" pitchFamily="18" charset="0"/>
              </a:rPr>
              <a:t>.</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1698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39FA-84F2-3624-49D6-32B9E0363C56}"/>
              </a:ext>
            </a:extLst>
          </p:cNvPr>
          <p:cNvSpPr>
            <a:spLocks noGrp="1"/>
          </p:cNvSpPr>
          <p:nvPr>
            <p:ph type="title"/>
          </p:nvPr>
        </p:nvSpPr>
        <p:spPr>
          <a:xfrm>
            <a:off x="838200" y="3986785"/>
            <a:ext cx="10515600" cy="2322576"/>
          </a:xfrm>
          <a:noFill/>
        </p:spPr>
        <p:txBody>
          <a:bodyPr bIns="0" anchor="ctr" anchorCtr="0"/>
          <a:lstStyle/>
          <a:p>
            <a:r>
              <a:rPr lang="en-US" dirty="0"/>
              <a:t>Thank you</a:t>
            </a:r>
          </a:p>
        </p:txBody>
      </p:sp>
      <p:pic>
        <p:nvPicPr>
          <p:cNvPr id="14" name="Picture Placeholder 13">
            <a:extLst>
              <a:ext uri="{FF2B5EF4-FFF2-40B4-BE49-F238E27FC236}">
                <a16:creationId xmlns:a16="http://schemas.microsoft.com/office/drawing/2014/main" id="{A055EB25-16F6-7101-88C8-C11BC5095FA8}"/>
              </a:ext>
            </a:extLst>
          </p:cNvPr>
          <p:cNvPicPr>
            <a:picLocks noGrp="1" noChangeAspect="1"/>
          </p:cNvPicPr>
          <p:nvPr>
            <p:ph type="pic" sz="quarter" idx="13"/>
          </p:nvPr>
        </p:nvPicPr>
        <p:blipFill>
          <a:blip r:embed="rId2"/>
          <a:srcRect l="4493" r="4493"/>
          <a:stretch>
            <a:fillRect/>
          </a:stretch>
        </p:blipFill>
        <p:spPr>
          <a:xfrm>
            <a:off x="4069581" y="548639"/>
            <a:ext cx="3788229" cy="3319976"/>
          </a:xfrm>
        </p:spPr>
      </p:pic>
    </p:spTree>
    <p:extLst>
      <p:ext uri="{BB962C8B-B14F-4D97-AF65-F5344CB8AC3E}">
        <p14:creationId xmlns:p14="http://schemas.microsoft.com/office/powerpoint/2010/main" val="487522735"/>
      </p:ext>
    </p:extLst>
  </p:cSld>
  <p:clrMapOvr>
    <a:masterClrMapping/>
  </p:clrMapOvr>
</p:sld>
</file>

<file path=ppt/theme/theme1.xml><?xml version="1.0" encoding="utf-8"?>
<a:theme xmlns:a="http://schemas.openxmlformats.org/drawingml/2006/main"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 discovery_V1_win32_EF_v4.potx" id="{C76E1CB0-558D-4FB9-AA8B-DAB0BFDB970A}" vid="{87D4F3E9-C3BB-413B-A87E-0B7BB674A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DF8397A0-8C35-4EEE-8E61-47C914415B57}">
  <ds:schemaRefs>
    <ds:schemaRef ds:uri="http://schemas.microsoft.com/sharepoint/v3/contenttype/forms"/>
  </ds:schemaRefs>
</ds:datastoreItem>
</file>

<file path=customXml/itemProps2.xml><?xml version="1.0" encoding="utf-8"?>
<ds:datastoreItem xmlns:ds="http://schemas.openxmlformats.org/officeDocument/2006/customXml" ds:itemID="{C9A734A7-6096-47AA-9737-CDF62701A0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81D8D6-8849-400B-8BC9-21D401C7DD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{F974415C-3518-4851-9E94-2BC662BA076C}tf67061901_win32</Template>
  <TotalTime>741</TotalTime>
  <Words>1389</Words>
  <Application>Microsoft Office PowerPoint</Application>
  <PresentationFormat>Widescreen</PresentationFormat>
  <Paragraphs>124</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Courier New</vt:lpstr>
      <vt:lpstr>Daytona Condensed Light</vt:lpstr>
      <vt:lpstr>Posterama</vt:lpstr>
      <vt:lpstr>Times New Roman</vt:lpstr>
      <vt:lpstr>Custom</vt:lpstr>
      <vt:lpstr>AIR QUALITY INDEX OF INDIA</vt:lpstr>
      <vt:lpstr>agenda</vt:lpstr>
      <vt:lpstr>OBJECTIVE</vt:lpstr>
      <vt:lpstr>DATASET OVERVIEW</vt:lpstr>
      <vt:lpstr>Meteorological &amp; Weather Variables</vt:lpstr>
      <vt:lpstr>Air Pollution &amp; Particulate Matter</vt:lpstr>
      <vt:lpstr>Air Quality Index (AQI) Metrics</vt:lpstr>
      <vt:lpstr>Event &amp; Seasonal Activity Indicators</vt:lpstr>
      <vt:lpstr>dataset</vt:lpstr>
      <vt:lpstr>PowerPoint Presentation</vt:lpstr>
      <vt:lpstr>Libraries used:</vt:lpstr>
      <vt:lpstr>Data Cleaning and Preprocessing</vt:lpstr>
      <vt:lpstr>PowerPoint Presentation</vt:lpstr>
      <vt:lpstr>Graphs from the project</vt:lpstr>
      <vt:lpstr>PowerPoint Presentation</vt:lpstr>
      <vt:lpstr>Overall Insights of the Whole Project</vt:lpstr>
      <vt:lpstr>PowerPoint Presentation</vt:lpstr>
      <vt:lpstr>PowerPoint Presentation</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MISBA KOUSAR</dc:creator>
  <cp:lastModifiedBy>MISBA KOUSAR</cp:lastModifiedBy>
  <cp:revision>9</cp:revision>
  <dcterms:created xsi:type="dcterms:W3CDTF">2026-01-05T14:25:11Z</dcterms:created>
  <dcterms:modified xsi:type="dcterms:W3CDTF">2026-01-08T07:32:13Z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